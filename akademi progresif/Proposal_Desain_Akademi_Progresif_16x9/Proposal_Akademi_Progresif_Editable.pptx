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4a3925381b45fc" /><Relationship Type="http://schemas.openxmlformats.org/officeDocument/2006/relationships/extended-properties" Target="/docProps/app.xml" Id="R7c96b5dcdd604c73" /><Relationship Type="http://schemas.openxmlformats.org/officeDocument/2006/relationships/officeDocument" Target="/ppt/presentation.xml" Id="R3baee9072cd840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04a771263747e1"/>
  </p:sldMasterIdLst>
  <p:notesMasterIdLst>
    <p:notesMasterId xmlns:r="http://schemas.openxmlformats.org/officeDocument/2006/relationships" r:id="R32d8673b13ef4f99"/>
  </p:notesMasterIdLst>
  <p:sldIdLst>
    <p:sldId xmlns:r="http://schemas.openxmlformats.org/officeDocument/2006/relationships" id="256" r:id="R35590dec23b14859"/>
    <p:sldId xmlns:r="http://schemas.openxmlformats.org/officeDocument/2006/relationships" id="257" r:id="R9c23d0d440d64150"/>
    <p:sldId xmlns:r="http://schemas.openxmlformats.org/officeDocument/2006/relationships" id="258" r:id="R4c9d7ce8cdad4871"/>
    <p:sldId xmlns:r="http://schemas.openxmlformats.org/officeDocument/2006/relationships" id="259" r:id="R5f97e8478b364a2a"/>
    <p:sldId xmlns:r="http://schemas.openxmlformats.org/officeDocument/2006/relationships" id="260" r:id="R7426c2bb26da4fea"/>
    <p:sldId xmlns:r="http://schemas.openxmlformats.org/officeDocument/2006/relationships" id="261" r:id="R2649b5ea384c4d77"/>
    <p:sldId xmlns:r="http://schemas.openxmlformats.org/officeDocument/2006/relationships" id="262" r:id="R346f644b55524556"/>
    <p:sldId xmlns:r="http://schemas.openxmlformats.org/officeDocument/2006/relationships" id="263" r:id="R85f34423eddd4453"/>
    <p:sldId xmlns:r="http://schemas.openxmlformats.org/officeDocument/2006/relationships" id="264" r:id="R5e03b89059a84547"/>
    <p:sldId xmlns:r="http://schemas.openxmlformats.org/officeDocument/2006/relationships" id="265" r:id="Rf5627c47b8344862"/>
    <p:sldId xmlns:r="http://schemas.openxmlformats.org/officeDocument/2006/relationships" id="266" r:id="R78c1bd5016394680"/>
    <p:sldId xmlns:r="http://schemas.openxmlformats.org/officeDocument/2006/relationships" id="267" r:id="R02ac055d85c54bb9"/>
    <p:sldId xmlns:r="http://schemas.openxmlformats.org/officeDocument/2006/relationships" id="268" r:id="R9d45ecf2faf24b1f"/>
    <p:sldId xmlns:r="http://schemas.openxmlformats.org/officeDocument/2006/relationships" id="269" r:id="R67347ed13f2e4f8f"/>
    <p:sldId xmlns:r="http://schemas.openxmlformats.org/officeDocument/2006/relationships" id="270" r:id="Rf3496c0b18a14511"/>
    <p:sldId xmlns:r="http://schemas.openxmlformats.org/officeDocument/2006/relationships" id="271" r:id="R38089bde9d364477"/>
    <p:sldId xmlns:r="http://schemas.openxmlformats.org/officeDocument/2006/relationships" id="272" r:id="Rbd5422e0c0914b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e1e066041f4999" /><Relationship Type="http://schemas.openxmlformats.org/officeDocument/2006/relationships/slideMaster" Target="/ppt/slideMasters/slideMaster1.xml" Id="R7404a771263747e1" /><Relationship Type="http://schemas.openxmlformats.org/officeDocument/2006/relationships/notesMaster" Target="/ppt/notesMasters/notesMaster1.xml" Id="R32d8673b13ef4f99" /><Relationship Type="http://schemas.openxmlformats.org/officeDocument/2006/relationships/presProps" Target="/ppt/presProps.xml" Id="R4a62bdac6cc9403d" /><Relationship Type="http://schemas.openxmlformats.org/officeDocument/2006/relationships/tableStyles" Target="/ppt/tableStyles.xml" Id="Rc3674e762ddc40f4" /><Relationship Type="http://schemas.openxmlformats.org/officeDocument/2006/relationships/slide" Target="/ppt/slides/slide1.xml" Id="R35590dec23b14859" /><Relationship Type="http://schemas.openxmlformats.org/officeDocument/2006/relationships/slide" Target="/ppt/slides/slide2.xml" Id="R9c23d0d440d64150" /><Relationship Type="http://schemas.openxmlformats.org/officeDocument/2006/relationships/slide" Target="/ppt/slides/slide3.xml" Id="R4c9d7ce8cdad4871" /><Relationship Type="http://schemas.openxmlformats.org/officeDocument/2006/relationships/slide" Target="/ppt/slides/slide4.xml" Id="R5f97e8478b364a2a" /><Relationship Type="http://schemas.openxmlformats.org/officeDocument/2006/relationships/slide" Target="/ppt/slides/slide5.xml" Id="R7426c2bb26da4fea" /><Relationship Type="http://schemas.openxmlformats.org/officeDocument/2006/relationships/slide" Target="/ppt/slides/slide6.xml" Id="R2649b5ea384c4d77" /><Relationship Type="http://schemas.openxmlformats.org/officeDocument/2006/relationships/slide" Target="/ppt/slides/slide7.xml" Id="R346f644b55524556" /><Relationship Type="http://schemas.openxmlformats.org/officeDocument/2006/relationships/slide" Target="/ppt/slides/slide8.xml" Id="R85f34423eddd4453" /><Relationship Type="http://schemas.openxmlformats.org/officeDocument/2006/relationships/slide" Target="/ppt/slides/slide9.xml" Id="R5e03b89059a84547" /><Relationship Type="http://schemas.openxmlformats.org/officeDocument/2006/relationships/slide" Target="/ppt/slides/slide10.xml" Id="Rf5627c47b8344862" /><Relationship Type="http://schemas.openxmlformats.org/officeDocument/2006/relationships/slide" Target="/ppt/slides/slide11.xml" Id="R78c1bd5016394680" /><Relationship Type="http://schemas.openxmlformats.org/officeDocument/2006/relationships/slide" Target="/ppt/slides/slide12.xml" Id="R02ac055d85c54bb9" /><Relationship Type="http://schemas.openxmlformats.org/officeDocument/2006/relationships/slide" Target="/ppt/slides/slide13.xml" Id="R9d45ecf2faf24b1f" /><Relationship Type="http://schemas.openxmlformats.org/officeDocument/2006/relationships/slide" Target="/ppt/slides/slide14.xml" Id="R67347ed13f2e4f8f" /><Relationship Type="http://schemas.openxmlformats.org/officeDocument/2006/relationships/slide" Target="/ppt/slides/slide15.xml" Id="Rf3496c0b18a14511" /><Relationship Type="http://schemas.openxmlformats.org/officeDocument/2006/relationships/slide" Target="/ppt/slides/slide16.xml" Id="R38089bde9d364477" /><Relationship Type="http://schemas.openxmlformats.org/officeDocument/2006/relationships/slide" Target="/ppt/slides/slide17.xml" Id="Rbd5422e0c0914b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ba47dfac544f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6c31324a094915" /><Relationship Type="http://schemas.openxmlformats.org/officeDocument/2006/relationships/notesMaster" Target="/ppt/notesMasters/notesMaster1.xml" Id="Ra42f04bf1c8841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ef3a78ecbc4b15" /><Relationship Type="http://schemas.openxmlformats.org/officeDocument/2006/relationships/notesMaster" Target="/ppt/notesMasters/notesMaster1.xml" Id="R60e935f1edfb41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12bfb58586412c" /><Relationship Type="http://schemas.openxmlformats.org/officeDocument/2006/relationships/notesMaster" Target="/ppt/notesMasters/notesMaster1.xml" Id="R99a0b7e1ee674f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23569508e64583" /><Relationship Type="http://schemas.openxmlformats.org/officeDocument/2006/relationships/notesMaster" Target="/ppt/notesMasters/notesMaster1.xml" Id="R985026932ca048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4b8c51cb114d50" /><Relationship Type="http://schemas.openxmlformats.org/officeDocument/2006/relationships/notesMaster" Target="/ppt/notesMasters/notesMaster1.xml" Id="Rac6e59e9080748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bdc976459649bc" /><Relationship Type="http://schemas.openxmlformats.org/officeDocument/2006/relationships/notesMaster" Target="/ppt/notesMasters/notesMaster1.xml" Id="Re06946bd86a547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87262c7866493c" /><Relationship Type="http://schemas.openxmlformats.org/officeDocument/2006/relationships/notesMaster" Target="/ppt/notesMasters/notesMaster1.xml" Id="R7aad95aad1094f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70cc5374614332" /><Relationship Type="http://schemas.openxmlformats.org/officeDocument/2006/relationships/notesMaster" Target="/ppt/notesMasters/notesMaster1.xml" Id="R82413fcc848a4d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92ff45de7a4ede" /><Relationship Type="http://schemas.openxmlformats.org/officeDocument/2006/relationships/notesMaster" Target="/ppt/notesMasters/notesMaster1.xml" Id="R489bf99e402b41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f07905a3b64c6e" /><Relationship Type="http://schemas.openxmlformats.org/officeDocument/2006/relationships/notesMaster" Target="/ppt/notesMasters/notesMaster1.xml" Id="R861e02ab4bc747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653fb90e594b05" /><Relationship Type="http://schemas.openxmlformats.org/officeDocument/2006/relationships/notesMaster" Target="/ppt/notesMasters/notesMaster1.xml" Id="Rda4563a54b154e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7500ce29fd4228" /><Relationship Type="http://schemas.openxmlformats.org/officeDocument/2006/relationships/notesMaster" Target="/ppt/notesMasters/notesMaster1.xml" Id="R977b148e747f4d9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4ba9fe69eeb43f3" /><Relationship Type="http://schemas.openxmlformats.org/officeDocument/2006/relationships/notesMaster" Target="/ppt/notesMasters/notesMaster1.xml" Id="Rce3a8e4966a04c1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9835629aa44ced" /><Relationship Type="http://schemas.openxmlformats.org/officeDocument/2006/relationships/notesMaster" Target="/ppt/notesMasters/notesMaster1.xml" Id="R7ab6d9b6ebed4e4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8c5537da25c42c5" /><Relationship Type="http://schemas.openxmlformats.org/officeDocument/2006/relationships/notesMaster" Target="/ppt/notesMasters/notesMaster1.xml" Id="R4b78aa2fce10411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a88764a39e14fb4" /><Relationship Type="http://schemas.openxmlformats.org/officeDocument/2006/relationships/notesMaster" Target="/ppt/notesMasters/notesMaster1.xml" Id="R2f95371ffeb3430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2e47374838342b3" /><Relationship Type="http://schemas.openxmlformats.org/officeDocument/2006/relationships/notesMaster" Target="/ppt/notesMasters/notesMaster1.xml" Id="R434d987a2d6144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990a834c644c1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e9b77a46e043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681a133c4d499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3fc9d709e942e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b7f409402a454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aa83c26d554a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83B8B6-6B90-458F-A52B-A6F56AF7E2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EA34578-28B7-4873-95E8-80543DD81A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12116F4-719D-48DB-8BD7-A3404E3C07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BF3E5E-F5A3-4204-820B-5746452557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2CC8A33-4A54-4B86-8198-739B73083B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C9A72F1-8C2A-40D8-8971-F7DB696844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F8670C-742C-4A0E-A68E-5AA957C4B2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944A993-D1E0-406B-A3DA-6B648BBBAF0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5ABC67-F225-453C-9742-B9803A744F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0E3B77-31B9-44E7-B38F-A0D30AC46A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f032326eab4bd4" /><Relationship Type="http://schemas.openxmlformats.org/officeDocument/2006/relationships/slideLayout" Target="/ppt/slideLayouts/slideLayout1.xml" Id="R1d9478af45d14902" /><Relationship Type="http://schemas.openxmlformats.org/officeDocument/2006/relationships/slideLayout" Target="/ppt/slideLayouts/slideLayout2.xml" Id="Ra02aec78ce094336" /><Relationship Type="http://schemas.openxmlformats.org/officeDocument/2006/relationships/slideLayout" Target="/ppt/slideLayouts/slideLayout3.xml" Id="Racb39d39e39046a7" /><Relationship Type="http://schemas.openxmlformats.org/officeDocument/2006/relationships/slideLayout" Target="/ppt/slideLayouts/slideLayout4.xml" Id="R023926d176f7478e" /><Relationship Type="http://schemas.openxmlformats.org/officeDocument/2006/relationships/slideLayout" Target="/ppt/slideLayouts/slideLayout5.xml" Id="Rd918237447b0409f" /><Relationship Type="http://schemas.openxmlformats.org/officeDocument/2006/relationships/slideLayout" Target="/ppt/slideLayouts/slideLayout6.xml" Id="R609689fb04664f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9478af45d14902"/>
    <p:sldLayoutId xmlns:r="http://schemas.openxmlformats.org/officeDocument/2006/relationships" id="2147483650" r:id="Ra02aec78ce094336"/>
    <p:sldLayoutId xmlns:r="http://schemas.openxmlformats.org/officeDocument/2006/relationships" id="2147483651" r:id="Racb39d39e39046a7"/>
    <p:sldLayoutId xmlns:r="http://schemas.openxmlformats.org/officeDocument/2006/relationships" id="2147483652" r:id="R023926d176f7478e"/>
    <p:sldLayoutId xmlns:r="http://schemas.openxmlformats.org/officeDocument/2006/relationships" id="2147483653" r:id="Rd918237447b0409f"/>
    <p:sldLayoutId xmlns:r="http://schemas.openxmlformats.org/officeDocument/2006/relationships" id="2147483654" r:id="R609689fb04664f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3ef61d55134fb9" /><Relationship Type="http://schemas.openxmlformats.org/officeDocument/2006/relationships/image" Target="/ppt/media/image.png" Id="Rc5bb7fe82a774959" /><Relationship Type="http://schemas.openxmlformats.org/officeDocument/2006/relationships/image" Target="/ppt/media/image2.png" Id="R21c08e9e558047c5" /><Relationship Type="http://schemas.openxmlformats.org/officeDocument/2006/relationships/notesSlide" Target="/ppt/notesSlides/notesSlide1.xml" Id="R1278a5b573184b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34005d87304570" /><Relationship Type="http://schemas.openxmlformats.org/officeDocument/2006/relationships/image" Target="/ppt/media/image3.png" Id="R60fc14bd089d4660" /><Relationship Type="http://schemas.openxmlformats.org/officeDocument/2006/relationships/image" Target="/ppt/media/image4.png" Id="Rad0c6e861fee4fa6" /><Relationship Type="http://schemas.openxmlformats.org/officeDocument/2006/relationships/notesSlide" Target="/ppt/notesSlides/notesSlide2.xml" Id="Rb1f17890ea544c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78655a8b9142b6" /><Relationship Type="http://schemas.openxmlformats.org/officeDocument/2006/relationships/image" Target="/ppt/media/image5.png" Id="R1e203e4bdb8a4a71" /><Relationship Type="http://schemas.openxmlformats.org/officeDocument/2006/relationships/image" Target="/ppt/media/image6.png" Id="R991da34e37764287" /><Relationship Type="http://schemas.openxmlformats.org/officeDocument/2006/relationships/notesSlide" Target="/ppt/notesSlides/notesSlide3.xml" Id="R7bef7f18be4f44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cb83997f0e4df7" /><Relationship Type="http://schemas.openxmlformats.org/officeDocument/2006/relationships/image" Target="/ppt/media/image7.png" Id="R5774ab657e924f7f" /><Relationship Type="http://schemas.openxmlformats.org/officeDocument/2006/relationships/notesSlide" Target="/ppt/notesSlides/notesSlide4.xml" Id="Re4a0f702ded54f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33d6ed9da14e75" /><Relationship Type="http://schemas.openxmlformats.org/officeDocument/2006/relationships/image" Target="/ppt/media/image8.png" Id="R03fbf2946e5d4c28" /><Relationship Type="http://schemas.openxmlformats.org/officeDocument/2006/relationships/image" Target="/ppt/media/image9.png" Id="Rf27cd49234314e1c" /><Relationship Type="http://schemas.openxmlformats.org/officeDocument/2006/relationships/notesSlide" Target="/ppt/notesSlides/notesSlide5.xml" Id="Rbb7b242c5d6441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a736ee1ce743ce" /><Relationship Type="http://schemas.openxmlformats.org/officeDocument/2006/relationships/image" Target="/ppt/media/image10.png" Id="R349dceafe6be4e03" /><Relationship Type="http://schemas.openxmlformats.org/officeDocument/2006/relationships/notesSlide" Target="/ppt/notesSlides/notesSlide6.xml" Id="Ree8e543381e44f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a6296c71b44895" /><Relationship Type="http://schemas.openxmlformats.org/officeDocument/2006/relationships/image" Target="/ppt/media/image11.png" Id="R234bbbc9c20040a1" /><Relationship Type="http://schemas.openxmlformats.org/officeDocument/2006/relationships/notesSlide" Target="/ppt/notesSlides/notesSlide7.xml" Id="Re6673f2f4c8347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b7b24d9da34633" /><Relationship Type="http://schemas.openxmlformats.org/officeDocument/2006/relationships/image" Target="/ppt/media/image12.png" Id="Rf291202094fa423f" /><Relationship Type="http://schemas.openxmlformats.org/officeDocument/2006/relationships/image" Target="/ppt/media/image13.png" Id="Raa3588b09d5b4aac" /><Relationship Type="http://schemas.openxmlformats.org/officeDocument/2006/relationships/notesSlide" Target="/ppt/notesSlides/notesSlide8.xml" Id="R1ae8afb7dedf44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6e9a8c0ff14033" /><Relationship Type="http://schemas.openxmlformats.org/officeDocument/2006/relationships/image" Target="/ppt/media/image14.png" Id="Rfb1ff493ec914bd2" /><Relationship Type="http://schemas.openxmlformats.org/officeDocument/2006/relationships/notesSlide" Target="/ppt/notesSlides/notesSlide9.xml" Id="Rfa0b6e5b13984f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780d5b741f4a8f" /><Relationship Type="http://schemas.openxmlformats.org/officeDocument/2006/relationships/image" Target="/ppt/media/image15.png" Id="Rbe0ec7e002a54547" /><Relationship Type="http://schemas.openxmlformats.org/officeDocument/2006/relationships/notesSlide" Target="/ppt/notesSlides/notesSlide10.xml" Id="Rff70655288014cc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883ae4b75f494e" /><Relationship Type="http://schemas.openxmlformats.org/officeDocument/2006/relationships/image" Target="/ppt/media/image16.png" Id="R551ae95163b348de" /><Relationship Type="http://schemas.openxmlformats.org/officeDocument/2006/relationships/notesSlide" Target="/ppt/notesSlides/notesSlide11.xml" Id="R29f58b19c92f40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f1e26986334ae0" /><Relationship Type="http://schemas.openxmlformats.org/officeDocument/2006/relationships/image" Target="/ppt/media/image17.png" Id="R6fe16d958fe3471c" /><Relationship Type="http://schemas.openxmlformats.org/officeDocument/2006/relationships/image" Target="/ppt/media/image18.png" Id="R7827ca9ff6f74e8e" /><Relationship Type="http://schemas.openxmlformats.org/officeDocument/2006/relationships/notesSlide" Target="/ppt/notesSlides/notesSlide12.xml" Id="Rb8e4728ffad54f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bc3b5d2f484033" /><Relationship Type="http://schemas.openxmlformats.org/officeDocument/2006/relationships/image" Target="/ppt/media/image19.png" Id="R21998f6388ff49b8" /><Relationship Type="http://schemas.openxmlformats.org/officeDocument/2006/relationships/image" Target="/ppt/media/image20.png" Id="Rdc13fb875e454d0a" /><Relationship Type="http://schemas.openxmlformats.org/officeDocument/2006/relationships/notesSlide" Target="/ppt/notesSlides/notesSlide13.xml" Id="Rf056bfb05776460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32d23419284d5b" /><Relationship Type="http://schemas.openxmlformats.org/officeDocument/2006/relationships/image" Target="/ppt/media/image21.png" Id="R477591079b174b47" /><Relationship Type="http://schemas.openxmlformats.org/officeDocument/2006/relationships/notesSlide" Target="/ppt/notesSlides/notesSlide14.xml" Id="Rfa0108f066674b0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63c5b221944572" /><Relationship Type="http://schemas.openxmlformats.org/officeDocument/2006/relationships/image" Target="/ppt/media/image22.png" Id="R67a52788bfc54280" /><Relationship Type="http://schemas.openxmlformats.org/officeDocument/2006/relationships/image" Target="/ppt/media/image23.png" Id="R4d509bbb0acf4b32" /><Relationship Type="http://schemas.openxmlformats.org/officeDocument/2006/relationships/notesSlide" Target="/ppt/notesSlides/notesSlide15.xml" Id="Re8fe045f7fb2426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cfcb1e304c4f56" /><Relationship Type="http://schemas.openxmlformats.org/officeDocument/2006/relationships/image" Target="/ppt/media/image24.png" Id="R4e598fe768ee478a" /><Relationship Type="http://schemas.openxmlformats.org/officeDocument/2006/relationships/notesSlide" Target="/ppt/notesSlides/notesSlide16.xml" Id="Re8a12aa31666470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e096432df04d93" /><Relationship Type="http://schemas.openxmlformats.org/officeDocument/2006/relationships/image" Target="/ppt/media/image25.png" Id="Rea7f5bc1ea7f4b36" /><Relationship Type="http://schemas.openxmlformats.org/officeDocument/2006/relationships/image" Target="/ppt/media/image26.png" Id="R2730d15e273d4db4" /><Relationship Type="http://schemas.openxmlformats.org/officeDocument/2006/relationships/notesSlide" Target="/ppt/notesSlides/notesSlide17.xml" Id="R4c7c986aede445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A5622-EDB6-404C-A600-AD5EFC7BE4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b7fe82a77495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FCA01-8628-4D81-AECF-4D7D25229E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c08e9e558047c5"/>
          <a:stretch xmlns:a="http://schemas.openxmlformats.org/drawingml/2006/main"/>
        </p:blipFill>
        <p:spPr>
          <a:xfrm xmlns:a="http://schemas.openxmlformats.org/drawingml/2006/main">
            <a:off x="609600" y="269217"/>
            <a:ext cx="1809750" cy="602661"/>
          </a:xfrm>
          <a:prstGeom xmlns:a="http://schemas.openxmlformats.org/drawingml/2006/main" prst="rect">
            <a:avLst/>
          </a:prstGeom>
        </p:spPr>
      </p:pic>
      <p:sp>
        <p:nvSpPr>
          <p:cNvPr id="3" name="PROPOSAL KERJA SAMA">
            <a:extLst xmlns:a="http://schemas.openxmlformats.org/drawingml/2006/main">
              <a:ext uri="{FF2B5EF4-FFF2-40B4-BE49-F238E27FC236}">
                <a16:creationId xmlns:a16="http://schemas.microsoft.com/office/drawing/2014/main" id="{9168CE5C-2A42-4582-BC78-869E67D1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6087"/>
              </a:lnSpc>
              <a:buNone/>
              <a:defRPr sz="17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5F1"/>
                </a:solidFill>
                <a:latin typeface="Arial"/>
                <a:ea typeface="Arial"/>
                <a:cs typeface="Arial"/>
              </a:rPr>
              <a:t>PROPOSAL KERJA SAMA</a:t>
            </a:r>
          </a:p>
        </p:txBody>
      </p:sp>
      <p:sp>
        <p:nvSpPr>
          <p:cNvPr id="4" name="AKADEMI&#10;PROGRESIF">
            <a:extLst xmlns:a="http://schemas.openxmlformats.org/drawingml/2006/main">
              <a:ext uri="{FF2B5EF4-FFF2-40B4-BE49-F238E27FC236}">
                <a16:creationId xmlns:a16="http://schemas.microsoft.com/office/drawing/2014/main" id="{63922139-4CE8-4198-97BD-3EA2079B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5715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9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59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59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59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59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59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59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59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59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59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1392"/>
              </a:lnSpc>
              <a:buNone/>
              <a:defRPr sz="59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5925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AKADEMI</a:t>
            </a:r>
          </a:p>
          <a:p xmlns:a="http://schemas.openxmlformats.org/drawingml/2006/main">
            <a:pPr>
              <a:lnSpc>
                <a:spcPct val="111392"/>
              </a:lnSpc>
              <a:buNone/>
              <a:defRPr sz="59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5925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PROGRESIF</a:t>
            </a:r>
          </a:p>
        </p:txBody>
      </p:sp>
      <p:sp>
        <p:nvSpPr>
          <p:cNvPr id="5" name="Tunas Progresif dan&#10;Penggerak Progresif">
            <a:extLst xmlns:a="http://schemas.openxmlformats.org/drawingml/2006/main">
              <a:ext uri="{FF2B5EF4-FFF2-40B4-BE49-F238E27FC236}">
                <a16:creationId xmlns:a16="http://schemas.microsoft.com/office/drawing/2014/main" id="{A8F148BA-7025-4F4C-BDC7-D73BB694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5334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31034"/>
              </a:lnSpc>
              <a:buNone/>
              <a:defRPr sz="21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Tunas Progresif dan</a:t>
            </a:r>
          </a:p>
          <a:p xmlns:a="http://schemas.openxmlformats.org/drawingml/2006/main">
            <a:pPr>
              <a:lnSpc>
                <a:spcPct val="131034"/>
              </a:lnSpc>
              <a:buNone/>
              <a:defRPr sz="21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Penggerak Progresif</a:t>
            </a:r>
          </a:p>
        </p:txBody>
      </p:sp>
      <p:sp>
        <p:nvSpPr>
          <p:cNvPr id="6" name="Muda Progresif Bangsa Foundation">
            <a:extLst xmlns:a="http://schemas.openxmlformats.org/drawingml/2006/main">
              <a:ext uri="{FF2B5EF4-FFF2-40B4-BE49-F238E27FC236}">
                <a16:creationId xmlns:a16="http://schemas.microsoft.com/office/drawing/2014/main" id="{674C602D-E2A4-4BF1-85DF-11E2B549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7273"/>
              </a:lnSpc>
              <a:buNone/>
              <a:defRPr sz="1650" b="0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82B59"/>
                </a:solidFill>
                <a:latin typeface="Arial"/>
                <a:ea typeface="Arial"/>
                <a:cs typeface="Arial"/>
              </a:rPr>
              <a:t>Muda Progresif Bangsa Foundation</a:t>
            </a:r>
          </a:p>
        </p:txBody>
      </p:sp>
      <p:sp>
        <p:nvSpPr>
          <p:cNvPr id="7" name="Ilustrasi konseptual program">
            <a:extLst xmlns:a="http://schemas.openxmlformats.org/drawingml/2006/main">
              <a:ext uri="{FF2B5EF4-FFF2-40B4-BE49-F238E27FC236}">
                <a16:creationId xmlns:a16="http://schemas.microsoft.com/office/drawing/2014/main" id="{EF567B76-B0F3-4DE1-9FBA-07CBB64B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Ilustrasi konseptual program</a:t>
            </a:r>
          </a:p>
        </p:txBody>
      </p:sp>
    </p:spTree>
    <p:extLst>
      <p:ext uri="{BB962C8B-B14F-4D97-AF65-F5344CB8AC3E}">
        <p14:creationId xmlns:p14="http://schemas.microsoft.com/office/powerpoint/2010/main" val="21145417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EB15E-FADC-439B-91B8-74643C3BFE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fc14bd089d466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889CA-3123-49EF-8A04-408BA408A5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c6e861fee4fa6"/>
          <a:stretch xmlns:a="http://schemas.openxmlformats.org/drawingml/2006/main"/>
        </p:blipFill>
        <p:spPr>
          <a:xfrm xmlns:a="http://schemas.openxmlformats.org/drawingml/2006/main">
            <a:off x="609600" y="269217"/>
            <a:ext cx="1809750" cy="602661"/>
          </a:xfrm>
          <a:prstGeom xmlns:a="http://schemas.openxmlformats.org/drawingml/2006/main" prst="rect">
            <a:avLst/>
          </a:prstGeom>
        </p:spPr>
      </p:pic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3A9BB675-9150-4A21-9262-B833F6D7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7625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ntang Akademi Progresif">
            <a:extLst xmlns:a="http://schemas.openxmlformats.org/drawingml/2006/main">
              <a:ext uri="{FF2B5EF4-FFF2-40B4-BE49-F238E27FC236}">
                <a16:creationId xmlns:a16="http://schemas.microsoft.com/office/drawing/2014/main" id="{C0F9A6E3-CB2E-4A9A-8BB8-12FC457B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53750" cy="547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Tentang Akademi Progresif</a:t>
            </a:r>
          </a:p>
        </p:txBody>
      </p:sp>
      <p:sp>
        <p:nvSpPr>
          <p:cNvPr id="5" name="Akademi Progresif merupakan wadah pendidikan dan p">
            <a:extLst xmlns:a="http://schemas.openxmlformats.org/drawingml/2006/main">
              <a:ext uri="{FF2B5EF4-FFF2-40B4-BE49-F238E27FC236}">
                <a16:creationId xmlns:a16="http://schemas.microsoft.com/office/drawing/2014/main" id="{E2FC9E99-7996-4E4F-A28C-8798409F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0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Akademi Progresif merupakan wadah pendidikan dan pembinaan pemuda di bawah Muda Progresif Bangsa Foundation.</a:t>
            </a:r>
          </a:p>
        </p:txBody>
      </p:sp>
      <p:sp>
        <p:nvSpPr>
          <p:cNvPr id="6" name="Kami mendampingi pelajar mengenal diri, menentukan">
            <a:extLst xmlns:a="http://schemas.openxmlformats.org/drawingml/2006/main">
              <a:ext uri="{FF2B5EF4-FFF2-40B4-BE49-F238E27FC236}">
                <a16:creationId xmlns:a16="http://schemas.microsoft.com/office/drawing/2014/main" id="{F2850EF9-6DA9-44DC-B4A6-E7DA8413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5048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725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Kami mendampingi pelajar mengenal diri, menentukan arah pendidikan, dan belajar mengambil tanggung jawab melalui Tunas Progresif serta Penggerak Progresif.</a:t>
            </a:r>
          </a:p>
        </p:txBody>
      </p:sp>
      <p:sp>
        <p:nvSpPr>
          <p:cNvPr id="7" name="Sasaran awal&#10;Pelajar kelas X dan XI SMA, SMK, MA, ">
            <a:extLst xmlns:a="http://schemas.openxmlformats.org/drawingml/2006/main">
              <a:ext uri="{FF2B5EF4-FFF2-40B4-BE49-F238E27FC236}">
                <a16:creationId xmlns:a16="http://schemas.microsoft.com/office/drawing/2014/main" id="{302A77FC-7813-4CC2-BD93-77076F13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5048250" cy="773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Sasaran awal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Pelajar kelas X dan XI SMA, SMK, MA, atau sederajat di Kota Bekasi dan Kabupaten Bekasi.</a:t>
            </a:r>
          </a:p>
        </p:txBody>
      </p:sp>
      <p:sp>
        <p:nvSpPr>
          <p:cNvPr id="8" name="Ilustrasi konseptual, bukan dokumentasi kegiatan y">
            <a:extLst xmlns:a="http://schemas.openxmlformats.org/drawingml/2006/main">
              <a:ext uri="{FF2B5EF4-FFF2-40B4-BE49-F238E27FC236}">
                <a16:creationId xmlns:a16="http://schemas.microsoft.com/office/drawing/2014/main" id="{F31BD418-844C-48E2-859E-6EB5FE3E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572750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Ilustrasi konseptual, bukan dokumentasi kegiatan yang telah terlaksana</a:t>
            </a:r>
          </a:p>
        </p:txBody>
      </p:sp>
    </p:spTree>
    <p:extLst>
      <p:ext uri="{BB962C8B-B14F-4D97-AF65-F5344CB8AC3E}">
        <p14:creationId xmlns:p14="http://schemas.microsoft.com/office/powerpoint/2010/main" val="8648710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84268D-11F0-485C-BB68-32A01431AA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203e4bdb8a4a7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ang putih logo">
            <a:extLst xmlns:a="http://schemas.openxmlformats.org/drawingml/2006/main">
              <a:ext uri="{FF2B5EF4-FFF2-40B4-BE49-F238E27FC236}">
                <a16:creationId xmlns:a16="http://schemas.microsoft.com/office/drawing/2014/main" id="{CB19673D-3293-436D-BF31-18728DF5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1962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E7510-2CCE-43E7-845B-7F3C7FDC33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da34e37764287"/>
          <a:stretch xmlns:a="http://schemas.openxmlformats.org/drawingml/2006/main"/>
        </p:blipFill>
        <p:spPr>
          <a:xfrm xmlns:a="http://schemas.openxmlformats.org/drawingml/2006/main">
            <a:off x="609600" y="269217"/>
            <a:ext cx="1809750" cy="602661"/>
          </a:xfrm>
          <a:prstGeom xmlns:a="http://schemas.openxmlformats.org/drawingml/2006/main" prst="rect">
            <a:avLst/>
          </a:prstGeom>
        </p:spPr>
      </p:pic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F35258E7-AE02-4F67-8DDF-025A6508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7625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Arah pembinaan">
            <a:extLst xmlns:a="http://schemas.openxmlformats.org/drawingml/2006/main">
              <a:ext uri="{FF2B5EF4-FFF2-40B4-BE49-F238E27FC236}">
                <a16:creationId xmlns:a16="http://schemas.microsoft.com/office/drawing/2014/main" id="{33F078EE-85A6-4C9D-83CE-73526A46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53750" cy="547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Arah pembinaan</a:t>
            </a:r>
          </a:p>
        </p:txBody>
      </p:sp>
      <p:sp>
        <p:nvSpPr>
          <p:cNvPr id="6" name="Visi yang diusulkan">
            <a:extLst xmlns:a="http://schemas.openxmlformats.org/drawingml/2006/main">
              <a:ext uri="{FF2B5EF4-FFF2-40B4-BE49-F238E27FC236}">
                <a16:creationId xmlns:a16="http://schemas.microsoft.com/office/drawing/2014/main" id="{38D89318-1232-454A-A561-246135B7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7625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AD58"/>
                </a:solidFill>
                <a:latin typeface="Arial"/>
                <a:ea typeface="Arial"/>
                <a:cs typeface="Arial"/>
              </a:rPr>
              <a:t>Visi yang diusulkan</a:t>
            </a:r>
          </a:p>
        </p:txBody>
      </p:sp>
      <p:sp>
        <p:nvSpPr>
          <p:cNvPr id="7" name="Pemuda yang berkarakter, berdaya, dan mampu memimp">
            <a:extLst xmlns:a="http://schemas.openxmlformats.org/drawingml/2006/main">
              <a:ext uri="{FF2B5EF4-FFF2-40B4-BE49-F238E27FC236}">
                <a16:creationId xmlns:a16="http://schemas.microsoft.com/office/drawing/2014/main" id="{0B40BADB-F052-4F0B-B6D9-7F8C309C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4762500" cy="88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Pemuda yang berkarakter, berdaya, dan mampu memimpin masa depannya serta memberi manfaat bagi masyarakat.</a:t>
            </a:r>
          </a:p>
        </p:txBody>
      </p:sp>
      <p:sp>
        <p:nvSpPr>
          <p:cNvPr id="8" name="Misi pembinaan">
            <a:extLst xmlns:a="http://schemas.openxmlformats.org/drawingml/2006/main">
              <a:ext uri="{FF2B5EF4-FFF2-40B4-BE49-F238E27FC236}">
                <a16:creationId xmlns:a16="http://schemas.microsoft.com/office/drawing/2014/main" id="{947F1353-8D03-4016-8A3A-5FA66C06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90750"/>
            <a:ext cx="504825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AD58"/>
                </a:solidFill>
                <a:latin typeface="Arial"/>
                <a:ea typeface="Arial"/>
                <a:cs typeface="Arial"/>
              </a:rPr>
              <a:t>Misi pembinaan</a:t>
            </a:r>
          </a:p>
        </p:txBody>
      </p:sp>
      <p:sp>
        <p:nvSpPr>
          <p:cNvPr id="9" name="Mendampingi pengembangan diri dan pilihan pendidik">
            <a:extLst xmlns:a="http://schemas.openxmlformats.org/drawingml/2006/main">
              <a:ext uri="{FF2B5EF4-FFF2-40B4-BE49-F238E27FC236}">
                <a16:creationId xmlns:a16="http://schemas.microsoft.com/office/drawing/2014/main" id="{B9685CA9-2D69-4BC3-9BB6-9BDD3A44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47950"/>
            <a:ext cx="504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Mendampingi pengembangan diri dan pilihan pendidikan. Membuka pengalaman memimpin melalui latihan, mentoring, serta kontribusi pada kebutuhan masyarakat.</a:t>
            </a:r>
          </a:p>
        </p:txBody>
      </p:sp>
      <p:sp>
        <p:nvSpPr>
          <p:cNvPr id="10" name="Nilai kebangsaan hadir melalui penghargaan terhada">
            <a:extLst xmlns:a="http://schemas.openxmlformats.org/drawingml/2006/main">
              <a:ext uri="{FF2B5EF4-FFF2-40B4-BE49-F238E27FC236}">
                <a16:creationId xmlns:a16="http://schemas.microsoft.com/office/drawing/2014/main" id="{388CD7EA-6708-42D7-AF1C-34AC4C4C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572750" cy="738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Nilai kebangsaan hadir melalui penghargaan terhadap perbedaan, tanggung jawab, dan kerja bersama.</a:t>
            </a:r>
          </a:p>
        </p:txBody>
      </p:sp>
      <p:sp>
        <p:nvSpPr>
          <p:cNvPr id="11" name="Rumusan arah pembinaan mengacu pada rancangan Akad">
            <a:extLst xmlns:a="http://schemas.openxmlformats.org/drawingml/2006/main">
              <a:ext uri="{FF2B5EF4-FFF2-40B4-BE49-F238E27FC236}">
                <a16:creationId xmlns:a16="http://schemas.microsoft.com/office/drawing/2014/main" id="{4715C78B-41A2-43FB-982E-59F39091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572750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7E2F0"/>
                </a:solidFill>
                <a:latin typeface="Arial"/>
                <a:ea typeface="Arial"/>
                <a:cs typeface="Arial"/>
              </a:rPr>
              <a:t>Rumusan arah pembinaan mengacu pada rancangan Akademi Progresif sebelumnya</a:t>
            </a:r>
          </a:p>
        </p:txBody>
      </p:sp>
    </p:spTree>
    <p:extLst>
      <p:ext uri="{BB962C8B-B14F-4D97-AF65-F5344CB8AC3E}">
        <p14:creationId xmlns:p14="http://schemas.microsoft.com/office/powerpoint/2010/main" val="3894394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81667D-26F8-4208-909A-B061EBF0F9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4ab657e924f7f"/>
          <a:stretch xmlns:a="http://schemas.openxmlformats.org/drawingml/2006/main"/>
        </p:blipFill>
        <p:spPr>
          <a:xfrm xmlns:a="http://schemas.openxmlformats.org/drawingml/2006/main">
            <a:off x="609600" y="269217"/>
            <a:ext cx="1809750" cy="602661"/>
          </a:xfrm>
          <a:prstGeom xmlns:a="http://schemas.openxmlformats.org/drawingml/2006/main" prst="rect">
            <a:avLst/>
          </a:prstGeom>
        </p:spPr>
      </p:pic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24F07143-F26F-463B-9146-E5908304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7625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Dua program pembinaan">
            <a:extLst xmlns:a="http://schemas.openxmlformats.org/drawingml/2006/main">
              <a:ext uri="{FF2B5EF4-FFF2-40B4-BE49-F238E27FC236}">
                <a16:creationId xmlns:a16="http://schemas.microsoft.com/office/drawing/2014/main" id="{0E30C2BD-02EC-4E89-9F8C-473728CC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53750" cy="547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Dua program pembinaan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B14C2E07-1F60-4D20-8CFB-49662AD8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238250" cy="833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65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465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unas Progresif">
            <a:extLst xmlns:a="http://schemas.openxmlformats.org/drawingml/2006/main">
              <a:ext uri="{FF2B5EF4-FFF2-40B4-BE49-F238E27FC236}">
                <a16:creationId xmlns:a16="http://schemas.microsoft.com/office/drawing/2014/main" id="{E777B960-9D47-4E0E-B2E9-945AAA1C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04825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6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Tunas Progresif</a:t>
            </a:r>
          </a:p>
        </p:txBody>
      </p:sp>
      <p:sp>
        <p:nvSpPr>
          <p:cNvPr id="6" name="Kelas dasar untuk mengenal diri, membangun karakte">
            <a:extLst xmlns:a="http://schemas.openxmlformats.org/drawingml/2006/main">
              <a:ext uri="{FF2B5EF4-FFF2-40B4-BE49-F238E27FC236}">
                <a16:creationId xmlns:a16="http://schemas.microsoft.com/office/drawing/2014/main" id="{76B246E6-75B5-4804-8728-B99487BA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Kelas dasar untuk mengenal diri, membangun karakter, merencanakan pendidikan, dan mencoba kontribusi pada empat pilar.</a:t>
            </a:r>
          </a:p>
        </p:txBody>
      </p:sp>
      <p:sp>
        <p:nvSpPr>
          <p:cNvPr id="7" name="Hasil: profil diri, peta pendidikan, dan refleksi ">
            <a:extLst xmlns:a="http://schemas.openxmlformats.org/drawingml/2006/main">
              <a:ext uri="{FF2B5EF4-FFF2-40B4-BE49-F238E27FC236}">
                <a16:creationId xmlns:a16="http://schemas.microsoft.com/office/drawing/2014/main" id="{C6685661-4516-4F1E-9ED1-319EA9CD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4953000" cy="321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Hasil: profil diri, peta pendidikan, dan refleksi pengalaman.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49FF1C2F-79C4-4393-AB5D-84522C46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14550"/>
            <a:ext cx="1238250" cy="833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650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4650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755F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Penggerak Progresif">
            <a:extLst xmlns:a="http://schemas.openxmlformats.org/drawingml/2006/main">
              <a:ext uri="{FF2B5EF4-FFF2-40B4-BE49-F238E27FC236}">
                <a16:creationId xmlns:a16="http://schemas.microsoft.com/office/drawing/2014/main" id="{A7C189DB-1D69-4BEE-BD0D-E2BEDE57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05125"/>
            <a:ext cx="504825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6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Penggerak Progresif</a:t>
            </a:r>
          </a:p>
        </p:txBody>
      </p:sp>
      <p:sp>
        <p:nvSpPr>
          <p:cNvPr id="10" name="Kelas lanjutan untuk menganalisis persoalan, memet">
            <a:extLst xmlns:a="http://schemas.openxmlformats.org/drawingml/2006/main">
              <a:ext uri="{FF2B5EF4-FFF2-40B4-BE49-F238E27FC236}">
                <a16:creationId xmlns:a16="http://schemas.microsoft.com/office/drawing/2014/main" id="{3BF80163-9E07-46CA-8D33-5E237ECA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718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Kelas lanjutan untuk menganalisis persoalan, memetakan aktor, membangun dukungan, dan memimpin pelaksanaan kegiatan.</a:t>
            </a:r>
          </a:p>
        </p:txBody>
      </p:sp>
      <p:sp>
        <p:nvSpPr>
          <p:cNvPr id="11" name="Hasil: analisis isu, rencana aksi, dan laporan pra">
            <a:extLst xmlns:a="http://schemas.openxmlformats.org/drawingml/2006/main">
              <a:ext uri="{FF2B5EF4-FFF2-40B4-BE49-F238E27FC236}">
                <a16:creationId xmlns:a16="http://schemas.microsoft.com/office/drawing/2014/main" id="{8D6DA23C-56AB-4C33-9CCB-DCF77A4B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81625"/>
            <a:ext cx="4953000" cy="321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4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Hasil: analisis isu, rencana aksi, dan laporan praktik.</a:t>
            </a:r>
          </a:p>
        </p:txBody>
      </p:sp>
    </p:spTree>
    <p:extLst>
      <p:ext uri="{BB962C8B-B14F-4D97-AF65-F5344CB8AC3E}">
        <p14:creationId xmlns:p14="http://schemas.microsoft.com/office/powerpoint/2010/main" val="10820330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C93C36-C7FB-4D06-9473-4614978149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bf2946e5d4c2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ang putih logo">
            <a:extLst xmlns:a="http://schemas.openxmlformats.org/drawingml/2006/main">
              <a:ext uri="{FF2B5EF4-FFF2-40B4-BE49-F238E27FC236}">
                <a16:creationId xmlns:a16="http://schemas.microsoft.com/office/drawing/2014/main" id="{B465EC0A-3712-4D5B-88DD-09AF3B92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1962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8C798-746C-4BCB-A81F-340AF2A238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7cd49234314e1c"/>
          <a:stretch xmlns:a="http://schemas.openxmlformats.org/drawingml/2006/main"/>
        </p:blipFill>
        <p:spPr>
          <a:xfrm xmlns:a="http://schemas.openxmlformats.org/drawingml/2006/main">
            <a:off x="609600" y="269217"/>
            <a:ext cx="1809750" cy="602661"/>
          </a:xfrm>
          <a:prstGeom xmlns:a="http://schemas.openxmlformats.org/drawingml/2006/main" prst="rect">
            <a:avLst/>
          </a:prstGeom>
        </p:spPr>
      </p:pic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0F074784-F649-4ED4-88D1-AE0AA22E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7625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Tunas Progresif">
            <a:extLst xmlns:a="http://schemas.openxmlformats.org/drawingml/2006/main">
              <a:ext uri="{FF2B5EF4-FFF2-40B4-BE49-F238E27FC236}">
                <a16:creationId xmlns:a16="http://schemas.microsoft.com/office/drawing/2014/main" id="{48E8BA53-16B7-49B4-BB60-9F5F8C95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53750" cy="547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Tunas Progresif</a:t>
            </a:r>
          </a:p>
        </p:txBody>
      </p:sp>
      <p:sp>
        <p:nvSpPr>
          <p:cNvPr id="6" name="Mengenal diri dan menyiapkan arah masa depan">
            <a:extLst xmlns:a="http://schemas.openxmlformats.org/drawingml/2006/main">
              <a:ext uri="{FF2B5EF4-FFF2-40B4-BE49-F238E27FC236}">
                <a16:creationId xmlns:a16="http://schemas.microsoft.com/office/drawing/2014/main" id="{E5FDFDFC-2AF5-42FF-AE2F-E16D830A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096500" cy="500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Mengenal diri dan menyiapkan arah masa depan</a:t>
            </a:r>
          </a:p>
        </p:txBody>
      </p:sp>
      <p:sp>
        <p:nvSpPr>
          <p:cNvPr id="7" name="Apa yang dipelajari">
            <a:extLst xmlns:a="http://schemas.openxmlformats.org/drawingml/2006/main">
              <a:ext uri="{FF2B5EF4-FFF2-40B4-BE49-F238E27FC236}">
                <a16:creationId xmlns:a16="http://schemas.microsoft.com/office/drawing/2014/main" id="{4FEB9CBC-9E81-4815-A50E-22CC5E98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504825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AD58"/>
                </a:solidFill>
                <a:latin typeface="Arial"/>
                <a:ea typeface="Arial"/>
                <a:cs typeface="Arial"/>
              </a:rPr>
              <a:t>Apa yang dipelajari</a:t>
            </a:r>
          </a:p>
        </p:txBody>
      </p:sp>
      <p:sp>
        <p:nvSpPr>
          <p:cNvPr id="8" name="Pengenalan diri, karakter, arah pendidikan, komuni">
            <a:extLst xmlns:a="http://schemas.openxmlformats.org/drawingml/2006/main">
              <a:ext uri="{FF2B5EF4-FFF2-40B4-BE49-F238E27FC236}">
                <a16:creationId xmlns:a16="http://schemas.microsoft.com/office/drawing/2014/main" id="{05D46029-2A3C-4299-9A1B-27EED223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5048250" cy="88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Pengenalan diri, karakter, arah pendidikan, komunikasi, kerja tim, serta eksplorasi seluruh empat pilar.</a:t>
            </a:r>
          </a:p>
        </p:txBody>
      </p:sp>
      <p:sp>
        <p:nvSpPr>
          <p:cNvPr id="9" name="Apa yang dilakukan">
            <a:extLst xmlns:a="http://schemas.openxmlformats.org/drawingml/2006/main">
              <a:ext uri="{FF2B5EF4-FFF2-40B4-BE49-F238E27FC236}">
                <a16:creationId xmlns:a16="http://schemas.microsoft.com/office/drawing/2014/main" id="{459B227F-D1D5-4EC2-8571-76100B3C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90875"/>
            <a:ext cx="504825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AD58"/>
                </a:solidFill>
                <a:latin typeface="Arial"/>
                <a:ea typeface="Arial"/>
                <a:cs typeface="Arial"/>
              </a:rPr>
              <a:t>Apa yang dilakukan</a:t>
            </a:r>
          </a:p>
        </p:txBody>
      </p:sp>
      <p:sp>
        <p:nvSpPr>
          <p:cNvPr id="10" name="Refleksi, diskusi kasus, simulasi rapat, latihan t">
            <a:extLst xmlns:a="http://schemas.openxmlformats.org/drawingml/2006/main">
              <a:ext uri="{FF2B5EF4-FFF2-40B4-BE49-F238E27FC236}">
                <a16:creationId xmlns:a16="http://schemas.microsoft.com/office/drawing/2014/main" id="{5EAD7FB2-25E5-4CC5-8889-D2B0EEC0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48075"/>
            <a:ext cx="5048250" cy="88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Refleksi, diskusi kasus, simulasi rapat, latihan tutor sebaya, observasi terbimbing, dan kontribusi sederhana bersama mentor.</a:t>
            </a:r>
          </a:p>
        </p:txBody>
      </p:sp>
      <p:sp>
        <p:nvSpPr>
          <p:cNvPr id="11" name="Usulan format: 12 sesi, masing-masing 120 menit. R">
            <a:extLst xmlns:a="http://schemas.openxmlformats.org/drawingml/2006/main">
              <a:ext uri="{FF2B5EF4-FFF2-40B4-BE49-F238E27FC236}">
                <a16:creationId xmlns:a16="http://schemas.microsoft.com/office/drawing/2014/main" id="{EF8DEF1F-77B6-48EA-B4E1-60232DC5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572750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Usulan format: 12 sesi, masing-masing 120 menit. Ritme awal dua sesi per minggu selama enam minggu.</a:t>
            </a:r>
          </a:p>
        </p:txBody>
      </p:sp>
      <p:sp>
        <p:nvSpPr>
          <p:cNvPr id="12" name="Jumlah sesi, ritme, dan jadwal masih berupa usulan">
            <a:extLst xmlns:a="http://schemas.openxmlformats.org/drawingml/2006/main">
              <a:ext uri="{FF2B5EF4-FFF2-40B4-BE49-F238E27FC236}">
                <a16:creationId xmlns:a16="http://schemas.microsoft.com/office/drawing/2014/main" id="{30745700-0642-49C4-ACA8-DF7E5E4D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572750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7E2F0"/>
                </a:solidFill>
                <a:latin typeface="Arial"/>
                <a:ea typeface="Arial"/>
                <a:cs typeface="Arial"/>
              </a:rPr>
              <a:t>Jumlah sesi, ritme, dan jadwal masih berupa usulan pelaksanaan</a:t>
            </a:r>
          </a:p>
        </p:txBody>
      </p:sp>
    </p:spTree>
    <p:extLst>
      <p:ext uri="{BB962C8B-B14F-4D97-AF65-F5344CB8AC3E}">
        <p14:creationId xmlns:p14="http://schemas.microsoft.com/office/powerpoint/2010/main" val="16209905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4C5450-4756-4F2E-A0A7-688C877303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dceafe6be4e03"/>
          <a:stretch xmlns:a="http://schemas.openxmlformats.org/drawingml/2006/main"/>
        </p:blipFill>
        <p:spPr>
          <a:xfrm xmlns:a="http://schemas.openxmlformats.org/drawingml/2006/main">
            <a:off x="609600" y="269217"/>
            <a:ext cx="1809750" cy="602661"/>
          </a:xfrm>
          <a:prstGeom xmlns:a="http://schemas.openxmlformats.org/drawingml/2006/main" prst="rect">
            <a:avLst/>
          </a:prstGeom>
        </p:spPr>
      </p:pic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692C19DF-18E4-4712-9648-15D5BAA5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7625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Tunas Progresif agenda 1–6">
            <a:extLst xmlns:a="http://schemas.openxmlformats.org/drawingml/2006/main">
              <a:ext uri="{FF2B5EF4-FFF2-40B4-BE49-F238E27FC236}">
                <a16:creationId xmlns:a16="http://schemas.microsoft.com/office/drawing/2014/main" id="{51CFE8E9-9350-47C9-A105-95952E57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53750" cy="547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Tunas Progresif agenda 1–6</a:t>
            </a:r>
          </a:p>
        </p:txBody>
      </p:sp>
      <p:sp>
        <p:nvSpPr>
          <p:cNvPr id="4" name="01  Orientasi dan mengenal diri">
            <a:extLst xmlns:a="http://schemas.openxmlformats.org/drawingml/2006/main">
              <a:ext uri="{FF2B5EF4-FFF2-40B4-BE49-F238E27FC236}">
                <a16:creationId xmlns:a16="http://schemas.microsoft.com/office/drawing/2014/main" id="{468BDC4E-FAEF-4158-AD41-606AB5CC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000625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01  Orientasi dan mengenal diri</a:t>
            </a:r>
          </a:p>
        </p:txBody>
      </p:sp>
      <p:sp>
        <p:nvSpPr>
          <p:cNvPr id="5" name="Peta pengalaman pribadi, cerita berpasangan, dan k">
            <a:extLst xmlns:a="http://schemas.openxmlformats.org/drawingml/2006/main">
              <a:ext uri="{FF2B5EF4-FFF2-40B4-BE49-F238E27FC236}">
                <a16:creationId xmlns:a16="http://schemas.microsoft.com/office/drawing/2014/main" id="{32FADD25-D760-4322-9F4C-3733FFEC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8863"/>
            <a:ext cx="500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2222"/>
              </a:lnSpc>
              <a:buNone/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Peta pengalaman pribadi, cerita berpasangan, dan kesepakatan kelas.</a:t>
            </a:r>
          </a:p>
        </p:txBody>
      </p:sp>
      <p:sp>
        <p:nvSpPr>
          <p:cNvPr id="6" name="Hasil: Profil diri versi awal serta satu tujuan pr">
            <a:extLst xmlns:a="http://schemas.openxmlformats.org/drawingml/2006/main">
              <a:ext uri="{FF2B5EF4-FFF2-40B4-BE49-F238E27FC236}">
                <a16:creationId xmlns:a16="http://schemas.microsoft.com/office/drawing/2014/main" id="{34D4B78F-149C-46F7-8D69-8496E424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3213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Hasil: Profil diri versi awal serta satu tujuan pribadi.</a:t>
            </a:r>
          </a:p>
        </p:txBody>
      </p:sp>
      <p:sp>
        <p:nvSpPr>
          <p:cNvPr id="7" name="02  Karakter dan kebiasaan">
            <a:extLst xmlns:a="http://schemas.openxmlformats.org/drawingml/2006/main">
              <a:ext uri="{FF2B5EF4-FFF2-40B4-BE49-F238E27FC236}">
                <a16:creationId xmlns:a16="http://schemas.microsoft.com/office/drawing/2014/main" id="{B16ADB34-A3BA-4C30-9058-C5BD9238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5000625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02  Karakter dan kebiasaan</a:t>
            </a:r>
          </a:p>
        </p:txBody>
      </p:sp>
      <p:sp>
        <p:nvSpPr>
          <p:cNvPr id="8" name="Kasus tanggung jawab, refleksi kebiasaan, dan renc">
            <a:extLst xmlns:a="http://schemas.openxmlformats.org/drawingml/2006/main">
              <a:ext uri="{FF2B5EF4-FFF2-40B4-BE49-F238E27FC236}">
                <a16:creationId xmlns:a16="http://schemas.microsoft.com/office/drawing/2014/main" id="{0C90B4C7-BE37-452B-8D99-CE6B3430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8563"/>
            <a:ext cx="500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2222"/>
              </a:lnSpc>
              <a:buNone/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Kasus tanggung jawab, refleksi kebiasaan, dan rencana latihan satu minggu.</a:t>
            </a:r>
          </a:p>
        </p:txBody>
      </p:sp>
      <p:sp>
        <p:nvSpPr>
          <p:cNvPr id="9" name="Hasil: Rencana kebiasaan beserta ukuran sederhana.">
            <a:extLst xmlns:a="http://schemas.openxmlformats.org/drawingml/2006/main">
              <a:ext uri="{FF2B5EF4-FFF2-40B4-BE49-F238E27FC236}">
                <a16:creationId xmlns:a16="http://schemas.microsoft.com/office/drawing/2014/main" id="{68429216-9C64-4C54-91A9-829C5F2A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2913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Hasil: Rencana kebiasaan beserta ukuran sederhana.</a:t>
            </a:r>
          </a:p>
        </p:txBody>
      </p:sp>
      <p:sp>
        <p:nvSpPr>
          <p:cNvPr id="10" name="03  Peta jalan pendidikan">
            <a:extLst xmlns:a="http://schemas.openxmlformats.org/drawingml/2006/main">
              <a:ext uri="{FF2B5EF4-FFF2-40B4-BE49-F238E27FC236}">
                <a16:creationId xmlns:a16="http://schemas.microsoft.com/office/drawing/2014/main" id="{779AA9CC-620B-46F8-B775-9C2AA845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5000625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03  Peta jalan pendidikan</a:t>
            </a:r>
          </a:p>
        </p:txBody>
      </p:sp>
      <p:sp>
        <p:nvSpPr>
          <p:cNvPr id="11" name="Membandingkan pilihan studi, kebutuhan persiapan, ">
            <a:extLst xmlns:a="http://schemas.openxmlformats.org/drawingml/2006/main">
              <a:ext uri="{FF2B5EF4-FFF2-40B4-BE49-F238E27FC236}">
                <a16:creationId xmlns:a16="http://schemas.microsoft.com/office/drawing/2014/main" id="{A83D16A6-2A92-4B08-A37D-4BE537FE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8263"/>
            <a:ext cx="500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2222"/>
              </a:lnSpc>
              <a:buNone/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Membandingkan pilihan studi, kebutuhan persiapan, biaya, serta sumber informasi.</a:t>
            </a:r>
          </a:p>
        </p:txBody>
      </p:sp>
      <p:sp>
        <p:nvSpPr>
          <p:cNvPr id="12" name="Hasil: Peta pendidikan utama dan alternatif.">
            <a:extLst xmlns:a="http://schemas.openxmlformats.org/drawingml/2006/main">
              <a:ext uri="{FF2B5EF4-FFF2-40B4-BE49-F238E27FC236}">
                <a16:creationId xmlns:a16="http://schemas.microsoft.com/office/drawing/2014/main" id="{7248FA78-9A10-4441-A460-A5390398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2613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Hasil: Peta pendidikan utama dan alternatif.</a:t>
            </a:r>
          </a:p>
        </p:txBody>
      </p:sp>
      <p:sp>
        <p:nvSpPr>
          <p:cNvPr id="13" name="04  Komunikasi dan kerja tim">
            <a:extLst xmlns:a="http://schemas.openxmlformats.org/drawingml/2006/main">
              <a:ext uri="{FF2B5EF4-FFF2-40B4-BE49-F238E27FC236}">
                <a16:creationId xmlns:a16="http://schemas.microsoft.com/office/drawing/2014/main" id="{9BEF7881-1508-4541-A5EF-CC0CF6C2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5000625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04  Komunikasi dan kerja tim</a:t>
            </a:r>
          </a:p>
        </p:txBody>
      </p:sp>
      <p:sp>
        <p:nvSpPr>
          <p:cNvPr id="14" name="Latihan mendengar, presentasi singkat, dan pembagi">
            <a:extLst xmlns:a="http://schemas.openxmlformats.org/drawingml/2006/main">
              <a:ext uri="{FF2B5EF4-FFF2-40B4-BE49-F238E27FC236}">
                <a16:creationId xmlns:a16="http://schemas.microsoft.com/office/drawing/2014/main" id="{99DE44C5-713B-4DCE-8707-DB1DB964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8863"/>
            <a:ext cx="500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2222"/>
              </a:lnSpc>
              <a:buNone/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Latihan mendengar, presentasi singkat, dan pembagian tugas kegiatan kecil.</a:t>
            </a:r>
          </a:p>
        </p:txBody>
      </p:sp>
      <p:sp>
        <p:nvSpPr>
          <p:cNvPr id="15" name="Hasil: Catatan peran dan umpan balik teman.">
            <a:extLst xmlns:a="http://schemas.openxmlformats.org/drawingml/2006/main">
              <a:ext uri="{FF2B5EF4-FFF2-40B4-BE49-F238E27FC236}">
                <a16:creationId xmlns:a16="http://schemas.microsoft.com/office/drawing/2014/main" id="{750C5CE7-D241-4044-A50F-4B921426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43213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Hasil: Catatan peran dan umpan balik teman.</a:t>
            </a:r>
          </a:p>
        </p:txBody>
      </p:sp>
      <p:sp>
        <p:nvSpPr>
          <p:cNvPr id="16" name="05  Eksplorasi pendidikan">
            <a:extLst xmlns:a="http://schemas.openxmlformats.org/drawingml/2006/main">
              <a:ext uri="{FF2B5EF4-FFF2-40B4-BE49-F238E27FC236}">
                <a16:creationId xmlns:a16="http://schemas.microsoft.com/office/drawing/2014/main" id="{EAA94A0D-5193-45FB-93E9-FE4667FC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9950"/>
            <a:ext cx="5000625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05  Eksplorasi pendidikan</a:t>
            </a:r>
          </a:p>
        </p:txBody>
      </p:sp>
      <p:sp>
        <p:nvSpPr>
          <p:cNvPr id="17" name="Kasus kesulitan belajar, latihan tutor sebaya, dan">
            <a:extLst xmlns:a="http://schemas.openxmlformats.org/drawingml/2006/main">
              <a:ext uri="{FF2B5EF4-FFF2-40B4-BE49-F238E27FC236}">
                <a16:creationId xmlns:a16="http://schemas.microsoft.com/office/drawing/2014/main" id="{D8418417-5AEB-4613-831B-E8D97DA3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38563"/>
            <a:ext cx="500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2222"/>
              </a:lnSpc>
              <a:buNone/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Kasus kesulitan belajar, latihan tutor sebaya, dan refleksi cara menjelaskan.</a:t>
            </a:r>
          </a:p>
        </p:txBody>
      </p:sp>
      <p:sp>
        <p:nvSpPr>
          <p:cNvPr id="18" name="Hasil: Rancangan bantuan belajar singkat.">
            <a:extLst xmlns:a="http://schemas.openxmlformats.org/drawingml/2006/main">
              <a:ext uri="{FF2B5EF4-FFF2-40B4-BE49-F238E27FC236}">
                <a16:creationId xmlns:a16="http://schemas.microsoft.com/office/drawing/2014/main" id="{C68D7BFB-C169-4ACF-8682-424B2BE6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2913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Hasil: Rancangan bantuan belajar singkat.</a:t>
            </a:r>
          </a:p>
        </p:txBody>
      </p:sp>
      <p:sp>
        <p:nvSpPr>
          <p:cNvPr id="19" name="06  Eksplorasi kesehatan">
            <a:extLst xmlns:a="http://schemas.openxmlformats.org/drawingml/2006/main">
              <a:ext uri="{FF2B5EF4-FFF2-40B4-BE49-F238E27FC236}">
                <a16:creationId xmlns:a16="http://schemas.microsoft.com/office/drawing/2014/main" id="{7FDD682F-CB76-4698-888A-C97C8BA7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19650"/>
            <a:ext cx="5000625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06  Eksplorasi kesehatan</a:t>
            </a:r>
          </a:p>
        </p:txBody>
      </p:sp>
      <p:sp>
        <p:nvSpPr>
          <p:cNvPr id="20" name="Memeriksa contoh informasi, diskusi kebutuhan, dan">
            <a:extLst xmlns:a="http://schemas.openxmlformats.org/drawingml/2006/main">
              <a:ext uri="{FF2B5EF4-FFF2-40B4-BE49-F238E27FC236}">
                <a16:creationId xmlns:a16="http://schemas.microsoft.com/office/drawing/2014/main" id="{EA98EA65-4FA2-45B3-A4BB-AF90628C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48263"/>
            <a:ext cx="500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2222"/>
              </a:lnSpc>
              <a:buNone/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Memeriksa contoh informasi, diskusi kebutuhan, dan latihan bahan edukasi yang ditinjau.</a:t>
            </a:r>
          </a:p>
        </p:txBody>
      </p:sp>
      <p:sp>
        <p:nvSpPr>
          <p:cNvPr id="21" name="Hasil: Bahan edukasi sederhana dan catatan sumber.">
            <a:extLst xmlns:a="http://schemas.openxmlformats.org/drawingml/2006/main">
              <a:ext uri="{FF2B5EF4-FFF2-40B4-BE49-F238E27FC236}">
                <a16:creationId xmlns:a16="http://schemas.microsoft.com/office/drawing/2014/main" id="{FB58827A-EA61-4F81-9C55-7630B463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62613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Hasil: Bahan edukasi sederhana dan catatan sumber.</a:t>
            </a:r>
          </a:p>
        </p:txBody>
      </p:sp>
      <p:sp>
        <p:nvSpPr>
          <p:cNvPr id="22" name="Urutan agenda merupakan usulan silabus. Bentuk pra">
            <a:extLst xmlns:a="http://schemas.openxmlformats.org/drawingml/2006/main">
              <a:ext uri="{FF2B5EF4-FFF2-40B4-BE49-F238E27FC236}">
                <a16:creationId xmlns:a16="http://schemas.microsoft.com/office/drawing/2014/main" id="{8886DD5C-B410-4920-BD76-D4AD9294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572750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Urutan agenda merupakan usulan silabus. Bentuk praktik menyesuaikan kebutuhan dan kesiapan pendamping.</a:t>
            </a:r>
          </a:p>
        </p:txBody>
      </p:sp>
    </p:spTree>
    <p:extLst>
      <p:ext uri="{BB962C8B-B14F-4D97-AF65-F5344CB8AC3E}">
        <p14:creationId xmlns:p14="http://schemas.microsoft.com/office/powerpoint/2010/main" val="16089213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5AA23E-ACFD-424E-868F-82E346205C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4bbbc9c20040a1"/>
          <a:stretch xmlns:a="http://schemas.openxmlformats.org/drawingml/2006/main"/>
        </p:blipFill>
        <p:spPr>
          <a:xfrm xmlns:a="http://schemas.openxmlformats.org/drawingml/2006/main">
            <a:off x="609600" y="269217"/>
            <a:ext cx="1809750" cy="602661"/>
          </a:xfrm>
          <a:prstGeom xmlns:a="http://schemas.openxmlformats.org/drawingml/2006/main" prst="rect">
            <a:avLst/>
          </a:prstGeom>
        </p:spPr>
      </p:pic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2577E805-6510-4048-AE58-ED1C88AA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7625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Tunas Progresif agenda 7–12">
            <a:extLst xmlns:a="http://schemas.openxmlformats.org/drawingml/2006/main">
              <a:ext uri="{FF2B5EF4-FFF2-40B4-BE49-F238E27FC236}">
                <a16:creationId xmlns:a16="http://schemas.microsoft.com/office/drawing/2014/main" id="{C1C995E6-28C8-48A1-8742-A0362903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53750" cy="547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Tunas Progresif agenda 7–12</a:t>
            </a:r>
          </a:p>
        </p:txBody>
      </p:sp>
      <p:sp>
        <p:nvSpPr>
          <p:cNvPr id="4" name="07  Eksplorasi kemanusiaan">
            <a:extLst xmlns:a="http://schemas.openxmlformats.org/drawingml/2006/main">
              <a:ext uri="{FF2B5EF4-FFF2-40B4-BE49-F238E27FC236}">
                <a16:creationId xmlns:a16="http://schemas.microsoft.com/office/drawing/2014/main" id="{05440348-EB78-4CAA-8C45-4FF18606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000625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07  Eksplorasi kemanusiaan</a:t>
            </a:r>
          </a:p>
        </p:txBody>
      </p:sp>
      <p:sp>
        <p:nvSpPr>
          <p:cNvPr id="5" name="Dengar kebutuhan, permainan alokasi bantuan, serta">
            <a:extLst xmlns:a="http://schemas.openxmlformats.org/drawingml/2006/main">
              <a:ext uri="{FF2B5EF4-FFF2-40B4-BE49-F238E27FC236}">
                <a16:creationId xmlns:a16="http://schemas.microsoft.com/office/drawing/2014/main" id="{C2EA7233-16B3-4504-A597-FAC3EFE7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8863"/>
            <a:ext cx="500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2222"/>
              </a:lnSpc>
              <a:buNone/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Dengar kebutuhan, permainan alokasi bantuan, serta latihan catatan distribusi.</a:t>
            </a:r>
          </a:p>
        </p:txBody>
      </p:sp>
      <p:sp>
        <p:nvSpPr>
          <p:cNvPr id="6" name="Hasil: Daftar kebutuhan dan rencana bantuan sederh">
            <a:extLst xmlns:a="http://schemas.openxmlformats.org/drawingml/2006/main">
              <a:ext uri="{FF2B5EF4-FFF2-40B4-BE49-F238E27FC236}">
                <a16:creationId xmlns:a16="http://schemas.microsoft.com/office/drawing/2014/main" id="{A9524B47-A0E6-4C5D-A9E3-3B4FB516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3213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Hasil: Daftar kebutuhan dan rencana bantuan sederhana.</a:t>
            </a:r>
          </a:p>
        </p:txBody>
      </p:sp>
      <p:sp>
        <p:nvSpPr>
          <p:cNvPr id="7" name="08  Eksplorasi pemberdayaan">
            <a:extLst xmlns:a="http://schemas.openxmlformats.org/drawingml/2006/main">
              <a:ext uri="{FF2B5EF4-FFF2-40B4-BE49-F238E27FC236}">
                <a16:creationId xmlns:a16="http://schemas.microsoft.com/office/drawing/2014/main" id="{BCA9D014-7A6A-4ACE-867D-4BF46DE7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5000625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08  Eksplorasi pemberdayaan</a:t>
            </a:r>
          </a:p>
        </p:txBody>
      </p:sp>
      <p:sp>
        <p:nvSpPr>
          <p:cNvPr id="8" name="Kasus usaha kecil, pengamatan terbimbing, dan usul">
            <a:extLst xmlns:a="http://schemas.openxmlformats.org/drawingml/2006/main">
              <a:ext uri="{FF2B5EF4-FFF2-40B4-BE49-F238E27FC236}">
                <a16:creationId xmlns:a16="http://schemas.microsoft.com/office/drawing/2014/main" id="{2DF6C54A-62FE-4B57-B148-3DB8820A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8563"/>
            <a:ext cx="500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2222"/>
              </a:lnSpc>
              <a:buNone/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Kasus usaha kecil, pengamatan terbimbing, dan usulan satu keterampilan.</a:t>
            </a:r>
          </a:p>
        </p:txBody>
      </p:sp>
      <p:sp>
        <p:nvSpPr>
          <p:cNvPr id="9" name="Hasil: Peta potensi serta ide pendampingan.">
            <a:extLst xmlns:a="http://schemas.openxmlformats.org/drawingml/2006/main">
              <a:ext uri="{FF2B5EF4-FFF2-40B4-BE49-F238E27FC236}">
                <a16:creationId xmlns:a16="http://schemas.microsoft.com/office/drawing/2014/main" id="{D0585882-ECC6-4D5D-B3D1-D7521148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2913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Hasil: Peta potensi serta ide pendampingan.</a:t>
            </a:r>
          </a:p>
        </p:txBody>
      </p:sp>
      <p:sp>
        <p:nvSpPr>
          <p:cNvPr id="10" name="09  Rapat dan keputusan bersama">
            <a:extLst xmlns:a="http://schemas.openxmlformats.org/drawingml/2006/main">
              <a:ext uri="{FF2B5EF4-FFF2-40B4-BE49-F238E27FC236}">
                <a16:creationId xmlns:a16="http://schemas.microsoft.com/office/drawing/2014/main" id="{7B5D6CEF-625C-4C81-B1DC-894EAEAA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5000625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09  Rapat dan keputusan bersama</a:t>
            </a:r>
          </a:p>
        </p:txBody>
      </p:sp>
      <p:sp>
        <p:nvSpPr>
          <p:cNvPr id="11" name="Simulasi rapat, tugas moderator, pencatat, dan pem">
            <a:extLst xmlns:a="http://schemas.openxmlformats.org/drawingml/2006/main">
              <a:ext uri="{FF2B5EF4-FFF2-40B4-BE49-F238E27FC236}">
                <a16:creationId xmlns:a16="http://schemas.microsoft.com/office/drawing/2014/main" id="{01E5F1A1-FDCF-41E0-944D-7A69A08A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8263"/>
            <a:ext cx="500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2222"/>
              </a:lnSpc>
              <a:buNone/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Simulasi rapat, tugas moderator, pencatat, dan pembagian tindak lanjut.</a:t>
            </a:r>
          </a:p>
        </p:txBody>
      </p:sp>
      <p:sp>
        <p:nvSpPr>
          <p:cNvPr id="12" name="Hasil: Notulen dan pembagian tugas.">
            <a:extLst xmlns:a="http://schemas.openxmlformats.org/drawingml/2006/main">
              <a:ext uri="{FF2B5EF4-FFF2-40B4-BE49-F238E27FC236}">
                <a16:creationId xmlns:a16="http://schemas.microsoft.com/office/drawing/2014/main" id="{2C7EE978-8AA7-4F29-8541-DA57E720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2613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Hasil: Notulen dan pembagian tugas.</a:t>
            </a:r>
          </a:p>
        </p:txBody>
      </p:sp>
      <p:sp>
        <p:nvSpPr>
          <p:cNvPr id="13" name="10  Rencana kontribusi kecil">
            <a:extLst xmlns:a="http://schemas.openxmlformats.org/drawingml/2006/main">
              <a:ext uri="{FF2B5EF4-FFF2-40B4-BE49-F238E27FC236}">
                <a16:creationId xmlns:a16="http://schemas.microsoft.com/office/drawing/2014/main" id="{8A1E78A1-1847-43EA-B18B-F35246C7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5000625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10  Rencana kontribusi kecil</a:t>
            </a:r>
          </a:p>
        </p:txBody>
      </p:sp>
      <p:sp>
        <p:nvSpPr>
          <p:cNvPr id="14" name="Memilih tema dari eksplorasi pilar, merancang lang">
            <a:extLst xmlns:a="http://schemas.openxmlformats.org/drawingml/2006/main">
              <a:ext uri="{FF2B5EF4-FFF2-40B4-BE49-F238E27FC236}">
                <a16:creationId xmlns:a16="http://schemas.microsoft.com/office/drawing/2014/main" id="{A6B8A379-E2F8-4CDB-BBE5-07839E6B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8863"/>
            <a:ext cx="500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2222"/>
              </a:lnSpc>
              <a:buNone/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Memilih tema dari eksplorasi pilar, merancang langkah serta sumber daya.</a:t>
            </a:r>
          </a:p>
        </p:txBody>
      </p:sp>
      <p:sp>
        <p:nvSpPr>
          <p:cNvPr id="15" name="Hasil: Rencana kontribusi kelompok.">
            <a:extLst xmlns:a="http://schemas.openxmlformats.org/drawingml/2006/main">
              <a:ext uri="{FF2B5EF4-FFF2-40B4-BE49-F238E27FC236}">
                <a16:creationId xmlns:a16="http://schemas.microsoft.com/office/drawing/2014/main" id="{C06B8199-9496-4D8D-BBDF-A69842C3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43213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Hasil: Rencana kontribusi kelompok.</a:t>
            </a:r>
          </a:p>
        </p:txBody>
      </p:sp>
      <p:sp>
        <p:nvSpPr>
          <p:cNvPr id="16" name="11  Praktik dan umpan balik">
            <a:extLst xmlns:a="http://schemas.openxmlformats.org/drawingml/2006/main">
              <a:ext uri="{FF2B5EF4-FFF2-40B4-BE49-F238E27FC236}">
                <a16:creationId xmlns:a16="http://schemas.microsoft.com/office/drawing/2014/main" id="{93A39BF6-EDA6-4FFD-9BD6-44B00008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9950"/>
            <a:ext cx="5000625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11  Praktik dan umpan balik</a:t>
            </a:r>
          </a:p>
        </p:txBody>
      </p:sp>
      <p:sp>
        <p:nvSpPr>
          <p:cNvPr id="17" name="Praktik yang telah disepakati atau simulasi setara">
            <a:extLst xmlns:a="http://schemas.openxmlformats.org/drawingml/2006/main">
              <a:ext uri="{FF2B5EF4-FFF2-40B4-BE49-F238E27FC236}">
                <a16:creationId xmlns:a16="http://schemas.microsoft.com/office/drawing/2014/main" id="{4E9E431D-362C-4384-95C2-B3B7C906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38563"/>
            <a:ext cx="500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2222"/>
              </a:lnSpc>
              <a:buNone/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Praktik yang telah disepakati atau simulasi setara, observasi mentor, dan refleksi.</a:t>
            </a:r>
          </a:p>
        </p:txBody>
      </p:sp>
      <p:sp>
        <p:nvSpPr>
          <p:cNvPr id="18" name="Hasil: Bukti praktik dan catatan perbaikan.">
            <a:extLst xmlns:a="http://schemas.openxmlformats.org/drawingml/2006/main">
              <a:ext uri="{FF2B5EF4-FFF2-40B4-BE49-F238E27FC236}">
                <a16:creationId xmlns:a16="http://schemas.microsoft.com/office/drawing/2014/main" id="{31FAA15A-FAB5-41F3-9C7D-E8AC2B57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2913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Hasil: Bukti praktik dan catatan perbaikan.</a:t>
            </a:r>
          </a:p>
        </p:txBody>
      </p:sp>
      <p:sp>
        <p:nvSpPr>
          <p:cNvPr id="19" name="12  Portofolio dan arah berikutnya">
            <a:extLst xmlns:a="http://schemas.openxmlformats.org/drawingml/2006/main">
              <a:ext uri="{FF2B5EF4-FFF2-40B4-BE49-F238E27FC236}">
                <a16:creationId xmlns:a16="http://schemas.microsoft.com/office/drawing/2014/main" id="{A4490F6D-0E6E-4737-80E0-E287A27E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19650"/>
            <a:ext cx="5000625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12  Portofolio dan arah berikutnya</a:t>
            </a:r>
          </a:p>
        </p:txBody>
      </p:sp>
      <p:sp>
        <p:nvSpPr>
          <p:cNvPr id="20" name="Presentasi profil diri, peta pendidikan, refleksi ">
            <a:extLst xmlns:a="http://schemas.openxmlformats.org/drawingml/2006/main">
              <a:ext uri="{FF2B5EF4-FFF2-40B4-BE49-F238E27FC236}">
                <a16:creationId xmlns:a16="http://schemas.microsoft.com/office/drawing/2014/main" id="{36156FED-3EA7-4D6E-AC2A-64458D50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48263"/>
            <a:ext cx="500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2222"/>
              </a:lnSpc>
              <a:buNone/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Presentasi profil diri, peta pendidikan, refleksi empat pilar, dan percakapan mentor.</a:t>
            </a:r>
          </a:p>
        </p:txBody>
      </p:sp>
      <p:sp>
        <p:nvSpPr>
          <p:cNvPr id="21" name="Hasil: Portofolio Tunas serta rencana tindak lanju">
            <a:extLst xmlns:a="http://schemas.openxmlformats.org/drawingml/2006/main">
              <a:ext uri="{FF2B5EF4-FFF2-40B4-BE49-F238E27FC236}">
                <a16:creationId xmlns:a16="http://schemas.microsoft.com/office/drawing/2014/main" id="{AC1A018C-EF80-4D42-84F6-02722A1A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62613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Hasil: Portofolio Tunas serta rencana tindak lanjut.</a:t>
            </a:r>
          </a:p>
        </p:txBody>
      </p:sp>
      <p:sp>
        <p:nvSpPr>
          <p:cNvPr id="22" name="Urutan agenda merupakan usulan silabus. Bentuk pra">
            <a:extLst xmlns:a="http://schemas.openxmlformats.org/drawingml/2006/main">
              <a:ext uri="{FF2B5EF4-FFF2-40B4-BE49-F238E27FC236}">
                <a16:creationId xmlns:a16="http://schemas.microsoft.com/office/drawing/2014/main" id="{725A7AE2-4ED8-415A-BC5A-D87857AC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572750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Urutan agenda merupakan usulan silabus. Bentuk praktik menyesuaikan kebutuhan dan kesiapan pendamping.</a:t>
            </a:r>
          </a:p>
        </p:txBody>
      </p:sp>
    </p:spTree>
    <p:extLst>
      <p:ext uri="{BB962C8B-B14F-4D97-AF65-F5344CB8AC3E}">
        <p14:creationId xmlns:p14="http://schemas.microsoft.com/office/powerpoint/2010/main" val="7125588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9467CA-65E4-4804-8663-44BFCBD3EF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1202094fa423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ang putih logo">
            <a:extLst xmlns:a="http://schemas.openxmlformats.org/drawingml/2006/main">
              <a:ext uri="{FF2B5EF4-FFF2-40B4-BE49-F238E27FC236}">
                <a16:creationId xmlns:a16="http://schemas.microsoft.com/office/drawing/2014/main" id="{DAFA306C-9762-4C1D-BEAD-BDCEFADE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1962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25E3E-F565-48EC-88AF-439F0935F7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3588b09d5b4aac"/>
          <a:stretch xmlns:a="http://schemas.openxmlformats.org/drawingml/2006/main"/>
        </p:blipFill>
        <p:spPr>
          <a:xfrm xmlns:a="http://schemas.openxmlformats.org/drawingml/2006/main">
            <a:off x="609600" y="269217"/>
            <a:ext cx="1809750" cy="602661"/>
          </a:xfrm>
          <a:prstGeom xmlns:a="http://schemas.openxmlformats.org/drawingml/2006/main" prst="rect">
            <a:avLst/>
          </a:prstGeom>
        </p:spPr>
      </p:pic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47ECED17-5F01-4F8B-9608-342DFF84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7625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Penggerak Progresif">
            <a:extLst xmlns:a="http://schemas.openxmlformats.org/drawingml/2006/main">
              <a:ext uri="{FF2B5EF4-FFF2-40B4-BE49-F238E27FC236}">
                <a16:creationId xmlns:a16="http://schemas.microsoft.com/office/drawing/2014/main" id="{336F57F5-B238-4854-97A0-DA15A478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53750" cy="547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Penggerak Progresif</a:t>
            </a:r>
          </a:p>
        </p:txBody>
      </p:sp>
      <p:sp>
        <p:nvSpPr>
          <p:cNvPr id="6" name="Membaca persoalan dan memimpin kontribusi">
            <a:extLst xmlns:a="http://schemas.openxmlformats.org/drawingml/2006/main">
              <a:ext uri="{FF2B5EF4-FFF2-40B4-BE49-F238E27FC236}">
                <a16:creationId xmlns:a16="http://schemas.microsoft.com/office/drawing/2014/main" id="{6F9B5CBB-50D2-4DE0-8630-54219E2E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572750" cy="500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Membaca persoalan dan memimpin kontribusi</a:t>
            </a:r>
          </a:p>
        </p:txBody>
      </p:sp>
      <p:sp>
        <p:nvSpPr>
          <p:cNvPr id="7" name="Apa yang dipelajari">
            <a:extLst xmlns:a="http://schemas.openxmlformats.org/drawingml/2006/main">
              <a:ext uri="{FF2B5EF4-FFF2-40B4-BE49-F238E27FC236}">
                <a16:creationId xmlns:a16="http://schemas.microsoft.com/office/drawing/2014/main" id="{C909632E-2988-4421-A461-EEB69E96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04825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AD58"/>
                </a:solidFill>
                <a:latin typeface="Arial"/>
                <a:ea typeface="Arial"/>
                <a:cs typeface="Arial"/>
              </a:rPr>
              <a:t>Apa yang dipelajari</a:t>
            </a:r>
          </a:p>
        </p:txBody>
      </p:sp>
      <p:sp>
        <p:nvSpPr>
          <p:cNvPr id="8" name="Analisis sosial, pemetaan kebutuhan dan aktor, adv">
            <a:extLst xmlns:a="http://schemas.openxmlformats.org/drawingml/2006/main">
              <a:ext uri="{FF2B5EF4-FFF2-40B4-BE49-F238E27FC236}">
                <a16:creationId xmlns:a16="http://schemas.microsoft.com/office/drawing/2014/main" id="{EFF09A5B-BDB3-4EAF-B541-9849D629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5048250" cy="88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Analisis sosial, pemetaan kebutuhan dan aktor, advokasi, lobi, negosiasi, komunikasi gerakan, serta pengorganisasian.</a:t>
            </a:r>
          </a:p>
        </p:txBody>
      </p:sp>
      <p:sp>
        <p:nvSpPr>
          <p:cNvPr id="9" name="Apa yang dilakukan">
            <a:extLst xmlns:a="http://schemas.openxmlformats.org/drawingml/2006/main">
              <a:ext uri="{FF2B5EF4-FFF2-40B4-BE49-F238E27FC236}">
                <a16:creationId xmlns:a16="http://schemas.microsoft.com/office/drawing/2014/main" id="{2220DC72-EB46-4BC0-8CE6-424DA2A9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504825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AD58"/>
                </a:solidFill>
                <a:latin typeface="Arial"/>
                <a:ea typeface="Arial"/>
                <a:cs typeface="Arial"/>
              </a:rPr>
              <a:t>Apa yang dilakukan</a:t>
            </a:r>
          </a:p>
        </p:txBody>
      </p:sp>
      <p:sp>
        <p:nvSpPr>
          <p:cNvPr id="10" name="Simulasi forum dan pertemuan mitra, penyusunan ren">
            <a:extLst xmlns:a="http://schemas.openxmlformats.org/drawingml/2006/main">
              <a:ext uri="{FF2B5EF4-FFF2-40B4-BE49-F238E27FC236}">
                <a16:creationId xmlns:a16="http://schemas.microsoft.com/office/drawing/2014/main" id="{3523431A-2E15-4550-AD11-8C7DC6D7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0450"/>
            <a:ext cx="5048250" cy="88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Simulasi forum dan pertemuan mitra, penyusunan rencana serta anggaran, praktik lapangan, dan evaluasi portofolio.</a:t>
            </a:r>
          </a:p>
        </p:txBody>
      </p:sp>
      <p:sp>
        <p:nvSpPr>
          <p:cNvPr id="11" name="Usulan format: 12 sesi, masing-masing 120 menit. R">
            <a:extLst xmlns:a="http://schemas.openxmlformats.org/drawingml/2006/main">
              <a:ext uri="{FF2B5EF4-FFF2-40B4-BE49-F238E27FC236}">
                <a16:creationId xmlns:a16="http://schemas.microsoft.com/office/drawing/2014/main" id="{05FE40B9-F270-4C73-B0B3-B350B272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572750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Usulan format: 12 sesi, masing-masing 120 menit. Ritme awal satu sesi per minggu selama dua belas minggu.</a:t>
            </a:r>
          </a:p>
        </p:txBody>
      </p:sp>
      <p:sp>
        <p:nvSpPr>
          <p:cNvPr id="12" name="Peserta melanjutkan setelah menuntaskan Tunas dan ">
            <a:extLst xmlns:a="http://schemas.openxmlformats.org/drawingml/2006/main">
              <a:ext uri="{FF2B5EF4-FFF2-40B4-BE49-F238E27FC236}">
                <a16:creationId xmlns:a16="http://schemas.microsoft.com/office/drawing/2014/main" id="{71DC3A88-A13A-4B04-A025-5E69424D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572750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7E2F0"/>
                </a:solidFill>
                <a:latin typeface="Arial"/>
                <a:ea typeface="Arial"/>
                <a:cs typeface="Arial"/>
              </a:rPr>
              <a:t>Peserta melanjutkan setelah menuntaskan Tunas dan dinilai siap oleh mentor. Jadwal praktik ditetapkan tersendiri.</a:t>
            </a:r>
          </a:p>
        </p:txBody>
      </p:sp>
    </p:spTree>
    <p:extLst>
      <p:ext uri="{BB962C8B-B14F-4D97-AF65-F5344CB8AC3E}">
        <p14:creationId xmlns:p14="http://schemas.microsoft.com/office/powerpoint/2010/main" val="11013968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0EA667-2C5D-49A4-B076-4EC92E0E2E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ff493ec914bd2"/>
          <a:stretch xmlns:a="http://schemas.openxmlformats.org/drawingml/2006/main"/>
        </p:blipFill>
        <p:spPr>
          <a:xfrm xmlns:a="http://schemas.openxmlformats.org/drawingml/2006/main">
            <a:off x="609600" y="269217"/>
            <a:ext cx="1809750" cy="602661"/>
          </a:xfrm>
          <a:prstGeom xmlns:a="http://schemas.openxmlformats.org/drawingml/2006/main" prst="rect">
            <a:avLst/>
          </a:prstGeom>
        </p:spPr>
      </p:pic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48189E82-8779-4E15-AB69-903E808A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7625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Penggerak Progresif agenda 1–6">
            <a:extLst xmlns:a="http://schemas.openxmlformats.org/drawingml/2006/main">
              <a:ext uri="{FF2B5EF4-FFF2-40B4-BE49-F238E27FC236}">
                <a16:creationId xmlns:a16="http://schemas.microsoft.com/office/drawing/2014/main" id="{F28F538A-AB83-4158-A3E1-0E9DC797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53750" cy="547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Penggerak Progresif agenda 1–6</a:t>
            </a:r>
          </a:p>
        </p:txBody>
      </p:sp>
      <p:sp>
        <p:nvSpPr>
          <p:cNvPr id="4" name="01  Orientasi dan pilihan isu">
            <a:extLst xmlns:a="http://schemas.openxmlformats.org/drawingml/2006/main">
              <a:ext uri="{FF2B5EF4-FFF2-40B4-BE49-F238E27FC236}">
                <a16:creationId xmlns:a16="http://schemas.microsoft.com/office/drawing/2014/main" id="{2149E2B1-67A9-4746-9B53-2C912557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000625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01  Orientasi dan pilihan isu</a:t>
            </a:r>
          </a:p>
        </p:txBody>
      </p:sp>
      <p:sp>
        <p:nvSpPr>
          <p:cNvPr id="5" name="Meninjau portofolio Tunas, berbagi pengalaman, dan">
            <a:extLst xmlns:a="http://schemas.openxmlformats.org/drawingml/2006/main">
              <a:ext uri="{FF2B5EF4-FFF2-40B4-BE49-F238E27FC236}">
                <a16:creationId xmlns:a16="http://schemas.microsoft.com/office/drawing/2014/main" id="{A56A8B27-D660-42C6-8D00-9EC54A5F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8863"/>
            <a:ext cx="500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2222"/>
              </a:lnSpc>
              <a:buNone/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Meninjau portofolio Tunas, berbagi pengalaman, dan menetapkan tujuan kelompok.</a:t>
            </a:r>
          </a:p>
        </p:txBody>
      </p:sp>
      <p:sp>
        <p:nvSpPr>
          <p:cNvPr id="6" name="Hasil: Rumusan isu awal dan peran pribadi.">
            <a:extLst xmlns:a="http://schemas.openxmlformats.org/drawingml/2006/main">
              <a:ext uri="{FF2B5EF4-FFF2-40B4-BE49-F238E27FC236}">
                <a16:creationId xmlns:a16="http://schemas.microsoft.com/office/drawing/2014/main" id="{3964746A-8E36-4F30-BB64-D2920D1E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3213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Hasil: Rumusan isu awal dan peran pribadi.</a:t>
            </a:r>
          </a:p>
        </p:txBody>
      </p:sp>
      <p:sp>
        <p:nvSpPr>
          <p:cNvPr id="7" name="02  Analisis sosial dasar">
            <a:extLst xmlns:a="http://schemas.openxmlformats.org/drawingml/2006/main">
              <a:ext uri="{FF2B5EF4-FFF2-40B4-BE49-F238E27FC236}">
                <a16:creationId xmlns:a16="http://schemas.microsoft.com/office/drawing/2014/main" id="{ACC95E00-A94D-47F1-95CA-77AFDEC3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5000625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02  Analisis sosial dasar</a:t>
            </a:r>
          </a:p>
        </p:txBody>
      </p:sp>
      <p:sp>
        <p:nvSpPr>
          <p:cNvPr id="8" name="Latihan pohon masalah sederhana serta pemeriksaan ">
            <a:extLst xmlns:a="http://schemas.openxmlformats.org/drawingml/2006/main">
              <a:ext uri="{FF2B5EF4-FFF2-40B4-BE49-F238E27FC236}">
                <a16:creationId xmlns:a16="http://schemas.microsoft.com/office/drawing/2014/main" id="{6E855C68-DB6F-4E55-911E-1B7DF748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8563"/>
            <a:ext cx="500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2222"/>
              </a:lnSpc>
              <a:buNone/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Latihan pohon masalah sederhana serta pemeriksaan informasi.</a:t>
            </a:r>
          </a:p>
        </p:txBody>
      </p:sp>
      <p:sp>
        <p:nvSpPr>
          <p:cNvPr id="9" name="Hasil: Analisis isu versi pertama.">
            <a:extLst xmlns:a="http://schemas.openxmlformats.org/drawingml/2006/main">
              <a:ext uri="{FF2B5EF4-FFF2-40B4-BE49-F238E27FC236}">
                <a16:creationId xmlns:a16="http://schemas.microsoft.com/office/drawing/2014/main" id="{4425C786-21D3-4470-9BD7-AFFA4C11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3363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Hasil: Analisis isu versi pertama.</a:t>
            </a:r>
          </a:p>
        </p:txBody>
      </p:sp>
      <p:sp>
        <p:nvSpPr>
          <p:cNvPr id="10" name="03  Mapping kebutuhan dan potensi">
            <a:extLst xmlns:a="http://schemas.openxmlformats.org/drawingml/2006/main">
              <a:ext uri="{FF2B5EF4-FFF2-40B4-BE49-F238E27FC236}">
                <a16:creationId xmlns:a16="http://schemas.microsoft.com/office/drawing/2014/main" id="{95C86BD1-FDFC-4776-A064-8A2A3A2F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5000625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03  Mapping kebutuhan dan potensi</a:t>
            </a:r>
          </a:p>
        </p:txBody>
      </p:sp>
      <p:sp>
        <p:nvSpPr>
          <p:cNvPr id="11" name="Wawancara simulasi, pengamatan terbimbing, dan pem">
            <a:extLst xmlns:a="http://schemas.openxmlformats.org/drawingml/2006/main">
              <a:ext uri="{FF2B5EF4-FFF2-40B4-BE49-F238E27FC236}">
                <a16:creationId xmlns:a16="http://schemas.microsoft.com/office/drawing/2014/main" id="{90BEA7EA-843B-494A-BB7B-51698823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8263"/>
            <a:ext cx="500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2222"/>
              </a:lnSpc>
              <a:buNone/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Wawancara simulasi, pengamatan terbimbing, dan pemetaan aset.</a:t>
            </a:r>
          </a:p>
        </p:txBody>
      </p:sp>
      <p:sp>
        <p:nvSpPr>
          <p:cNvPr id="12" name="Hasil: Peta kebutuhan dan potensi.">
            <a:extLst xmlns:a="http://schemas.openxmlformats.org/drawingml/2006/main">
              <a:ext uri="{FF2B5EF4-FFF2-40B4-BE49-F238E27FC236}">
                <a16:creationId xmlns:a16="http://schemas.microsoft.com/office/drawing/2014/main" id="{16516EB1-C7D6-4539-88B9-A9330321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2613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Hasil: Peta kebutuhan dan potensi.</a:t>
            </a:r>
          </a:p>
        </p:txBody>
      </p:sp>
      <p:sp>
        <p:nvSpPr>
          <p:cNvPr id="13" name="04  Mapping aktor dan pengaruh">
            <a:extLst xmlns:a="http://schemas.openxmlformats.org/drawingml/2006/main">
              <a:ext uri="{FF2B5EF4-FFF2-40B4-BE49-F238E27FC236}">
                <a16:creationId xmlns:a16="http://schemas.microsoft.com/office/drawing/2014/main" id="{2F631A93-97FF-4E9E-A100-22DB7579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5000625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04  Mapping aktor dan pengaruh</a:t>
            </a:r>
          </a:p>
        </p:txBody>
      </p:sp>
      <p:sp>
        <p:nvSpPr>
          <p:cNvPr id="14" name="Peta aktor, kepentingan, hubungan, dan pemeriksaan">
            <a:extLst xmlns:a="http://schemas.openxmlformats.org/drawingml/2006/main">
              <a:ext uri="{FF2B5EF4-FFF2-40B4-BE49-F238E27FC236}">
                <a16:creationId xmlns:a16="http://schemas.microsoft.com/office/drawing/2014/main" id="{CED4A8C8-47BA-446B-91D9-DB621613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8863"/>
            <a:ext cx="500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2222"/>
              </a:lnSpc>
              <a:buNone/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Peta aktor, kepentingan, hubungan, dan pemeriksaan asumsi bersama mentor.</a:t>
            </a:r>
          </a:p>
        </p:txBody>
      </p:sp>
      <p:sp>
        <p:nvSpPr>
          <p:cNvPr id="15" name="Hasil: Peta aktor dan prioritas pendekatan.">
            <a:extLst xmlns:a="http://schemas.openxmlformats.org/drawingml/2006/main">
              <a:ext uri="{FF2B5EF4-FFF2-40B4-BE49-F238E27FC236}">
                <a16:creationId xmlns:a16="http://schemas.microsoft.com/office/drawing/2014/main" id="{3B775123-B1CF-4224-8866-A3635F5B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43213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Hasil: Peta aktor dan prioritas pendekatan.</a:t>
            </a:r>
          </a:p>
        </p:txBody>
      </p:sp>
      <p:sp>
        <p:nvSpPr>
          <p:cNvPr id="16" name="05  Advokasi dan tujuan perubahan">
            <a:extLst xmlns:a="http://schemas.openxmlformats.org/drawingml/2006/main">
              <a:ext uri="{FF2B5EF4-FFF2-40B4-BE49-F238E27FC236}">
                <a16:creationId xmlns:a16="http://schemas.microsoft.com/office/drawing/2014/main" id="{D1E085B2-0D0C-4784-BA43-5E4E8596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9950"/>
            <a:ext cx="5000625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05  Advokasi dan tujuan perubahan</a:t>
            </a:r>
          </a:p>
        </p:txBody>
      </p:sp>
      <p:sp>
        <p:nvSpPr>
          <p:cNvPr id="17" name="Membandingkan kegiatan layanan dan advokasi, menyu">
            <a:extLst xmlns:a="http://schemas.openxmlformats.org/drawingml/2006/main">
              <a:ext uri="{FF2B5EF4-FFF2-40B4-BE49-F238E27FC236}">
                <a16:creationId xmlns:a16="http://schemas.microsoft.com/office/drawing/2014/main" id="{8782E324-5867-46FC-81E8-DA512CA7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38563"/>
            <a:ext cx="500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2222"/>
              </a:lnSpc>
              <a:buNone/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Membandingkan kegiatan layanan dan advokasi, menyusun argumen serta usulan.</a:t>
            </a:r>
          </a:p>
        </p:txBody>
      </p:sp>
      <p:sp>
        <p:nvSpPr>
          <p:cNvPr id="18" name="Hasil: Ringkasan tujuan perubahan dan sasaran dial">
            <a:extLst xmlns:a="http://schemas.openxmlformats.org/drawingml/2006/main">
              <a:ext uri="{FF2B5EF4-FFF2-40B4-BE49-F238E27FC236}">
                <a16:creationId xmlns:a16="http://schemas.microsoft.com/office/drawing/2014/main" id="{0546DEAD-F03E-4D6F-8368-0F5E37A9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2913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Hasil: Ringkasan tujuan perubahan dan sasaran dialog.</a:t>
            </a:r>
          </a:p>
        </p:txBody>
      </p:sp>
      <p:sp>
        <p:nvSpPr>
          <p:cNvPr id="19" name="06  Lobi dan negosiasi">
            <a:extLst xmlns:a="http://schemas.openxmlformats.org/drawingml/2006/main">
              <a:ext uri="{FF2B5EF4-FFF2-40B4-BE49-F238E27FC236}">
                <a16:creationId xmlns:a16="http://schemas.microsoft.com/office/drawing/2014/main" id="{251413FD-9A2C-4B01-90EB-7D57A35D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19650"/>
            <a:ext cx="5000625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06  Lobi dan negosiasi</a:t>
            </a:r>
          </a:p>
        </p:txBody>
      </p:sp>
      <p:sp>
        <p:nvSpPr>
          <p:cNvPr id="20" name="Simulasi pertemuan mitra, mendengar kebutuhan, dan">
            <a:extLst xmlns:a="http://schemas.openxmlformats.org/drawingml/2006/main">
              <a:ext uri="{FF2B5EF4-FFF2-40B4-BE49-F238E27FC236}">
                <a16:creationId xmlns:a16="http://schemas.microsoft.com/office/drawing/2014/main" id="{9C67ED70-472F-4F77-BD6C-46B3A528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48263"/>
            <a:ext cx="500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2222"/>
              </a:lnSpc>
              <a:buNone/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Simulasi pertemuan mitra, mendengar kebutuhan, dan menyusun kesepakatan.</a:t>
            </a:r>
          </a:p>
        </p:txBody>
      </p:sp>
      <p:sp>
        <p:nvSpPr>
          <p:cNvPr id="21" name="Hasil: Naskah pendekatan dan notulen kesepakatan.">
            <a:extLst xmlns:a="http://schemas.openxmlformats.org/drawingml/2006/main">
              <a:ext uri="{FF2B5EF4-FFF2-40B4-BE49-F238E27FC236}">
                <a16:creationId xmlns:a16="http://schemas.microsoft.com/office/drawing/2014/main" id="{E048A1F0-2F97-4628-AA9A-30FF40BD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62613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Hasil: Naskah pendekatan dan notulen kesepakatan.</a:t>
            </a:r>
          </a:p>
        </p:txBody>
      </p:sp>
      <p:sp>
        <p:nvSpPr>
          <p:cNvPr id="22" name="Urutan agenda merupakan usulan silabus. Bentuk pra">
            <a:extLst xmlns:a="http://schemas.openxmlformats.org/drawingml/2006/main">
              <a:ext uri="{FF2B5EF4-FFF2-40B4-BE49-F238E27FC236}">
                <a16:creationId xmlns:a16="http://schemas.microsoft.com/office/drawing/2014/main" id="{800BD783-4C95-4EE1-A45F-7CC501E8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572750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Urutan agenda merupakan usulan silabus. Bentuk praktik menyesuaikan kebutuhan dan kesiapan pendamping.</a:t>
            </a:r>
          </a:p>
        </p:txBody>
      </p:sp>
    </p:spTree>
    <p:extLst>
      <p:ext uri="{BB962C8B-B14F-4D97-AF65-F5344CB8AC3E}">
        <p14:creationId xmlns:p14="http://schemas.microsoft.com/office/powerpoint/2010/main" val="6093833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305865-12F0-41D8-AE1F-011CC15BEF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0ec7e002a54547"/>
          <a:stretch xmlns:a="http://schemas.openxmlformats.org/drawingml/2006/main"/>
        </p:blipFill>
        <p:spPr>
          <a:xfrm xmlns:a="http://schemas.openxmlformats.org/drawingml/2006/main">
            <a:off x="609600" y="269217"/>
            <a:ext cx="1809750" cy="602661"/>
          </a:xfrm>
          <a:prstGeom xmlns:a="http://schemas.openxmlformats.org/drawingml/2006/main" prst="rect">
            <a:avLst/>
          </a:prstGeom>
        </p:spPr>
      </p:pic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30AB393E-4D33-4F31-B255-C40B4DBF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7625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Penggerak Progresif agenda 7–12">
            <a:extLst xmlns:a="http://schemas.openxmlformats.org/drawingml/2006/main">
              <a:ext uri="{FF2B5EF4-FFF2-40B4-BE49-F238E27FC236}">
                <a16:creationId xmlns:a16="http://schemas.microsoft.com/office/drawing/2014/main" id="{7805922C-5349-4922-BC64-9F2CADCA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53750" cy="547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Penggerak Progresif agenda 7–12</a:t>
            </a:r>
          </a:p>
        </p:txBody>
      </p:sp>
      <p:sp>
        <p:nvSpPr>
          <p:cNvPr id="4" name="07  Komunikasi gerakan">
            <a:extLst xmlns:a="http://schemas.openxmlformats.org/drawingml/2006/main">
              <a:ext uri="{FF2B5EF4-FFF2-40B4-BE49-F238E27FC236}">
                <a16:creationId xmlns:a16="http://schemas.microsoft.com/office/drawing/2014/main" id="{F062B394-0142-429A-BE46-7F8828A2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000625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07  Komunikasi gerakan</a:t>
            </a:r>
          </a:p>
        </p:txBody>
      </p:sp>
      <p:sp>
        <p:nvSpPr>
          <p:cNvPr id="5" name="Agitasi dan provokasi gagasan melalui perbandingan">
            <a:extLst xmlns:a="http://schemas.openxmlformats.org/drawingml/2006/main">
              <a:ext uri="{FF2B5EF4-FFF2-40B4-BE49-F238E27FC236}">
                <a16:creationId xmlns:a16="http://schemas.microsoft.com/office/drawing/2014/main" id="{0C68B5DB-46CD-4DC7-979C-0596E5A3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8863"/>
            <a:ext cx="500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2222"/>
              </a:lnSpc>
              <a:buNone/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Agitasi dan provokasi gagasan melalui perbandingan pesan, pemeriksaan fakta, serta pidato.</a:t>
            </a:r>
          </a:p>
        </p:txBody>
      </p:sp>
      <p:sp>
        <p:nvSpPr>
          <p:cNvPr id="6" name="Hasil: Naskah ajakan dan penjelasan dampak pesanny">
            <a:extLst xmlns:a="http://schemas.openxmlformats.org/drawingml/2006/main">
              <a:ext uri="{FF2B5EF4-FFF2-40B4-BE49-F238E27FC236}">
                <a16:creationId xmlns:a16="http://schemas.microsoft.com/office/drawing/2014/main" id="{8BC9F44F-7520-43EC-85B6-F8A8DF4F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3213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Hasil: Naskah ajakan dan penjelasan dampak pesannya.</a:t>
            </a:r>
          </a:p>
        </p:txBody>
      </p:sp>
      <p:sp>
        <p:nvSpPr>
          <p:cNvPr id="7" name="08  Persidangan dan musyawarah">
            <a:extLst xmlns:a="http://schemas.openxmlformats.org/drawingml/2006/main">
              <a:ext uri="{FF2B5EF4-FFF2-40B4-BE49-F238E27FC236}">
                <a16:creationId xmlns:a16="http://schemas.microsoft.com/office/drawing/2014/main" id="{1C0B0637-80B5-4238-8806-D0BC582E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5000625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08  Persidangan dan musyawarah</a:t>
            </a:r>
          </a:p>
        </p:txBody>
      </p:sp>
      <p:sp>
        <p:nvSpPr>
          <p:cNvPr id="8" name="Simulasi tata tertib, mosi, lobi, pencatatan, dan ">
            <a:extLst xmlns:a="http://schemas.openxmlformats.org/drawingml/2006/main">
              <a:ext uri="{FF2B5EF4-FFF2-40B4-BE49-F238E27FC236}">
                <a16:creationId xmlns:a16="http://schemas.microsoft.com/office/drawing/2014/main" id="{DC01375A-C1E7-49FE-9569-AA583B01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8563"/>
            <a:ext cx="500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2222"/>
              </a:lnSpc>
              <a:buNone/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Simulasi tata tertib, mosi, lobi, pencatatan, dan refleksi forum.</a:t>
            </a:r>
          </a:p>
        </p:txBody>
      </p:sp>
      <p:sp>
        <p:nvSpPr>
          <p:cNvPr id="9" name="Hasil: Tata tertib singkat serta notulen keputusan">
            <a:extLst xmlns:a="http://schemas.openxmlformats.org/drawingml/2006/main">
              <a:ext uri="{FF2B5EF4-FFF2-40B4-BE49-F238E27FC236}">
                <a16:creationId xmlns:a16="http://schemas.microsoft.com/office/drawing/2014/main" id="{1A7B1222-A31F-48A4-80AA-990573BB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3363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Hasil: Tata tertib singkat serta notulen keputusan.</a:t>
            </a:r>
          </a:p>
        </p:txBody>
      </p:sp>
      <p:sp>
        <p:nvSpPr>
          <p:cNvPr id="10" name="09  Perencanaan kegiatan dan anggaran">
            <a:extLst xmlns:a="http://schemas.openxmlformats.org/drawingml/2006/main">
              <a:ext uri="{FF2B5EF4-FFF2-40B4-BE49-F238E27FC236}">
                <a16:creationId xmlns:a16="http://schemas.microsoft.com/office/drawing/2014/main" id="{49F3772E-E862-4AFA-9957-9CFE780D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5000625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09  Perencanaan kegiatan dan anggaran</a:t>
            </a:r>
          </a:p>
        </p:txBody>
      </p:sp>
      <p:sp>
        <p:nvSpPr>
          <p:cNvPr id="11" name="Kerja kelompok proyek pilar serta tinjauan mentor.">
            <a:extLst xmlns:a="http://schemas.openxmlformats.org/drawingml/2006/main">
              <a:ext uri="{FF2B5EF4-FFF2-40B4-BE49-F238E27FC236}">
                <a16:creationId xmlns:a16="http://schemas.microsoft.com/office/drawing/2014/main" id="{BECCA51E-D1AC-4B99-A4DE-EF21A9A7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8263"/>
            <a:ext cx="500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2222"/>
              </a:lnSpc>
              <a:buNone/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Kerja kelompok proyek pilar serta tinjauan mentor.</a:t>
            </a:r>
          </a:p>
        </p:txBody>
      </p:sp>
      <p:sp>
        <p:nvSpPr>
          <p:cNvPr id="12" name="Hasil: Proposal praktik ringkas dan anggaran.">
            <a:extLst xmlns:a="http://schemas.openxmlformats.org/drawingml/2006/main">
              <a:ext uri="{FF2B5EF4-FFF2-40B4-BE49-F238E27FC236}">
                <a16:creationId xmlns:a16="http://schemas.microsoft.com/office/drawing/2014/main" id="{C3DC7FF1-681E-4361-A101-DEA24F71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3063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Hasil: Proposal praktik ringkas dan anggaran.</a:t>
            </a:r>
          </a:p>
        </p:txBody>
      </p:sp>
      <p:sp>
        <p:nvSpPr>
          <p:cNvPr id="13" name="10  Pengorganisasian dan kesiapan praktik">
            <a:extLst xmlns:a="http://schemas.openxmlformats.org/drawingml/2006/main">
              <a:ext uri="{FF2B5EF4-FFF2-40B4-BE49-F238E27FC236}">
                <a16:creationId xmlns:a16="http://schemas.microsoft.com/office/drawing/2014/main" id="{2D1B94E8-CE3C-4DE7-AA9A-0E5CB483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5000625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10  Pengorganisasian dan kesiapan praktik</a:t>
            </a:r>
          </a:p>
        </p:txBody>
      </p:sp>
      <p:sp>
        <p:nvSpPr>
          <p:cNvPr id="14" name="Latihan koordinasi, rencana cadangan, dan konfirma">
            <a:extLst xmlns:a="http://schemas.openxmlformats.org/drawingml/2006/main">
              <a:ext uri="{FF2B5EF4-FFF2-40B4-BE49-F238E27FC236}">
                <a16:creationId xmlns:a16="http://schemas.microsoft.com/office/drawing/2014/main" id="{F9B4F463-C62D-461E-BA51-212CF20A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8863"/>
            <a:ext cx="500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2222"/>
              </a:lnSpc>
              <a:buNone/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Latihan koordinasi, rencana cadangan, dan konfirmasi pendamping.</a:t>
            </a:r>
          </a:p>
        </p:txBody>
      </p:sp>
      <p:sp>
        <p:nvSpPr>
          <p:cNvPr id="15" name="Hasil: Daftar kesiapan dan jadwal praktik.">
            <a:extLst xmlns:a="http://schemas.openxmlformats.org/drawingml/2006/main">
              <a:ext uri="{FF2B5EF4-FFF2-40B4-BE49-F238E27FC236}">
                <a16:creationId xmlns:a16="http://schemas.microsoft.com/office/drawing/2014/main" id="{0A30ACDC-FC4E-4055-8508-7D89A3F8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43213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Hasil: Daftar kesiapan dan jadwal praktik.</a:t>
            </a:r>
          </a:p>
        </p:txBody>
      </p:sp>
      <p:sp>
        <p:nvSpPr>
          <p:cNvPr id="16" name="11  Praktik kontribusi">
            <a:extLst xmlns:a="http://schemas.openxmlformats.org/drawingml/2006/main">
              <a:ext uri="{FF2B5EF4-FFF2-40B4-BE49-F238E27FC236}">
                <a16:creationId xmlns:a16="http://schemas.microsoft.com/office/drawing/2014/main" id="{91AB2C17-F522-4A95-8847-F868C883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9950"/>
            <a:ext cx="5000625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11  Praktik kontribusi</a:t>
            </a:r>
          </a:p>
        </p:txBody>
      </p:sp>
      <p:sp>
        <p:nvSpPr>
          <p:cNvPr id="17" name="Praktik lapangan atau simulasi setara yang disepak">
            <a:extLst xmlns:a="http://schemas.openxmlformats.org/drawingml/2006/main">
              <a:ext uri="{FF2B5EF4-FFF2-40B4-BE49-F238E27FC236}">
                <a16:creationId xmlns:a16="http://schemas.microsoft.com/office/drawing/2014/main" id="{1B47E545-42E1-48BD-9FA1-2D04CFD2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38563"/>
            <a:ext cx="500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2222"/>
              </a:lnSpc>
              <a:buNone/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Praktik lapangan atau simulasi setara yang disepakati, pencatatan serta umpan balik.</a:t>
            </a:r>
          </a:p>
        </p:txBody>
      </p:sp>
      <p:sp>
        <p:nvSpPr>
          <p:cNvPr id="18" name="Hasil: Catatan pelaksanaan dan bukti hasil.">
            <a:extLst xmlns:a="http://schemas.openxmlformats.org/drawingml/2006/main">
              <a:ext uri="{FF2B5EF4-FFF2-40B4-BE49-F238E27FC236}">
                <a16:creationId xmlns:a16="http://schemas.microsoft.com/office/drawing/2014/main" id="{29B95879-7659-4E50-BD0A-6EF88821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2913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Hasil: Catatan pelaksanaan dan bukti hasil.</a:t>
            </a:r>
          </a:p>
        </p:txBody>
      </p:sp>
      <p:sp>
        <p:nvSpPr>
          <p:cNvPr id="19" name="12  Evaluasi dan pengembangan peran">
            <a:extLst xmlns:a="http://schemas.openxmlformats.org/drawingml/2006/main">
              <a:ext uri="{FF2B5EF4-FFF2-40B4-BE49-F238E27FC236}">
                <a16:creationId xmlns:a16="http://schemas.microsoft.com/office/drawing/2014/main" id="{A77D1608-B4C1-4B53-93CF-0640A2BC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19650"/>
            <a:ext cx="5000625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12  Evaluasi dan pengembangan peran</a:t>
            </a:r>
          </a:p>
        </p:txBody>
      </p:sp>
      <p:sp>
        <p:nvSpPr>
          <p:cNvPr id="20" name="Presentasi portofolio, refleksi dampak, dan percak">
            <a:extLst xmlns:a="http://schemas.openxmlformats.org/drawingml/2006/main">
              <a:ext uri="{FF2B5EF4-FFF2-40B4-BE49-F238E27FC236}">
                <a16:creationId xmlns:a16="http://schemas.microsoft.com/office/drawing/2014/main" id="{A9946C5F-3C1F-4BF9-A10A-13556D2C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48263"/>
            <a:ext cx="500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2222"/>
              </a:lnSpc>
              <a:buNone/>
              <a:defRPr sz="13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Presentasi portofolio, refleksi dampak, dan percakapan mentor.</a:t>
            </a:r>
          </a:p>
        </p:txBody>
      </p:sp>
      <p:sp>
        <p:nvSpPr>
          <p:cNvPr id="21" name="Hasil: Laporan hasil dan rencana peran alumni.">
            <a:extLst xmlns:a="http://schemas.openxmlformats.org/drawingml/2006/main">
              <a:ext uri="{FF2B5EF4-FFF2-40B4-BE49-F238E27FC236}">
                <a16:creationId xmlns:a16="http://schemas.microsoft.com/office/drawing/2014/main" id="{041C45FD-9EA2-4BA1-94D3-A80D7D8F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53063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Hasil: Laporan hasil dan rencana peran alumni.</a:t>
            </a:r>
          </a:p>
        </p:txBody>
      </p:sp>
      <p:sp>
        <p:nvSpPr>
          <p:cNvPr id="22" name="Urutan agenda merupakan usulan silabus. Bentuk pra">
            <a:extLst xmlns:a="http://schemas.openxmlformats.org/drawingml/2006/main">
              <a:ext uri="{FF2B5EF4-FFF2-40B4-BE49-F238E27FC236}">
                <a16:creationId xmlns:a16="http://schemas.microsoft.com/office/drawing/2014/main" id="{D0B1CAD2-5F9A-4FA8-8E0D-C15958A7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572750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Urutan agenda merupakan usulan silabus. Bentuk praktik menyesuaikan kebutuhan dan kesiapan pendamping.</a:t>
            </a:r>
          </a:p>
        </p:txBody>
      </p:sp>
    </p:spTree>
    <p:extLst>
      <p:ext uri="{BB962C8B-B14F-4D97-AF65-F5344CB8AC3E}">
        <p14:creationId xmlns:p14="http://schemas.microsoft.com/office/powerpoint/2010/main" val="12072451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DC1B02-42C4-454D-907A-58AC910DB6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1ae95163b348de"/>
          <a:stretch xmlns:a="http://schemas.openxmlformats.org/drawingml/2006/main"/>
        </p:blipFill>
        <p:spPr>
          <a:xfrm xmlns:a="http://schemas.openxmlformats.org/drawingml/2006/main">
            <a:off x="609600" y="269217"/>
            <a:ext cx="1809750" cy="602661"/>
          </a:xfrm>
          <a:prstGeom xmlns:a="http://schemas.openxmlformats.org/drawingml/2006/main" prst="rect">
            <a:avLst/>
          </a:prstGeom>
        </p:spPr>
      </p:pic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DBDF1ABA-3833-4699-BC29-9349C57B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7625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Empat pilar di dalam kedua program">
            <a:extLst xmlns:a="http://schemas.openxmlformats.org/drawingml/2006/main">
              <a:ext uri="{FF2B5EF4-FFF2-40B4-BE49-F238E27FC236}">
                <a16:creationId xmlns:a16="http://schemas.microsoft.com/office/drawing/2014/main" id="{D5D09B4C-6901-45A4-A29C-722728BB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53750" cy="547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Empat pilar di dalam kedua program</a:t>
            </a:r>
          </a:p>
        </p:txBody>
      </p:sp>
      <p:sp>
        <p:nvSpPr>
          <p:cNvPr id="4" name="Pendidikan">
            <a:extLst xmlns:a="http://schemas.openxmlformats.org/drawingml/2006/main">
              <a:ext uri="{FF2B5EF4-FFF2-40B4-BE49-F238E27FC236}">
                <a16:creationId xmlns:a16="http://schemas.microsoft.com/office/drawing/2014/main" id="{495500EB-FF35-48FB-83ED-C399E741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530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5F1"/>
                </a:solidFill>
                <a:latin typeface="Arial"/>
                <a:ea typeface="Arial"/>
                <a:cs typeface="Arial"/>
              </a:rPr>
              <a:t>Pendidikan</a:t>
            </a:r>
          </a:p>
        </p:txBody>
      </p:sp>
      <p:sp>
        <p:nvSpPr>
          <p:cNvPr id="5" name="Latihan tutor sebaya, penyusunan bahan belajar, da">
            <a:extLst xmlns:a="http://schemas.openxmlformats.org/drawingml/2006/main">
              <a:ext uri="{FF2B5EF4-FFF2-40B4-BE49-F238E27FC236}">
                <a16:creationId xmlns:a16="http://schemas.microsoft.com/office/drawing/2014/main" id="{A084857B-16E3-4ACE-8516-31B72912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Latihan tutor sebaya, penyusunan bahan belajar, dan pendampingan sesuai kebutuhan.</a:t>
            </a:r>
          </a:p>
        </p:txBody>
      </p:sp>
      <p:sp>
        <p:nvSpPr>
          <p:cNvPr id="6" name="Kesehatan">
            <a:extLst xmlns:a="http://schemas.openxmlformats.org/drawingml/2006/main">
              <a:ext uri="{FF2B5EF4-FFF2-40B4-BE49-F238E27FC236}">
                <a16:creationId xmlns:a16="http://schemas.microsoft.com/office/drawing/2014/main" id="{047ED486-C7F3-4ECB-966B-D386A2B5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5F1"/>
                </a:solidFill>
                <a:latin typeface="Arial"/>
                <a:ea typeface="Arial"/>
                <a:cs typeface="Arial"/>
              </a:rPr>
              <a:t>Kesehatan</a:t>
            </a:r>
          </a:p>
        </p:txBody>
      </p:sp>
      <p:sp>
        <p:nvSpPr>
          <p:cNvPr id="7" name="Literasi informasi dan edukasi kebiasaan sehat den">
            <a:extLst xmlns:a="http://schemas.openxmlformats.org/drawingml/2006/main">
              <a:ext uri="{FF2B5EF4-FFF2-40B4-BE49-F238E27FC236}">
                <a16:creationId xmlns:a16="http://schemas.microsoft.com/office/drawing/2014/main" id="{35702065-0D5C-4C16-9137-9D0A2575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5270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Literasi informasi dan edukasi kebiasaan sehat dengan dukungan mitra kompeten.</a:t>
            </a:r>
          </a:p>
        </p:txBody>
      </p:sp>
      <p:sp>
        <p:nvSpPr>
          <p:cNvPr id="8" name="Kemanusiaan">
            <a:extLst xmlns:a="http://schemas.openxmlformats.org/drawingml/2006/main">
              <a:ext uri="{FF2B5EF4-FFF2-40B4-BE49-F238E27FC236}">
                <a16:creationId xmlns:a16="http://schemas.microsoft.com/office/drawing/2014/main" id="{F1805942-A69D-4D3D-9256-DEC63AFC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49530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5F1"/>
                </a:solidFill>
                <a:latin typeface="Arial"/>
                <a:ea typeface="Arial"/>
                <a:cs typeface="Arial"/>
              </a:rPr>
              <a:t>Kemanusiaan</a:t>
            </a:r>
          </a:p>
        </p:txBody>
      </p:sp>
      <p:sp>
        <p:nvSpPr>
          <p:cNvPr id="9" name="Empati, pencatatan bantuan, pengelolaan relawan, d">
            <a:extLst xmlns:a="http://schemas.openxmlformats.org/drawingml/2006/main">
              <a:ext uri="{FF2B5EF4-FFF2-40B4-BE49-F238E27FC236}">
                <a16:creationId xmlns:a16="http://schemas.microsoft.com/office/drawing/2014/main" id="{4A7B9BC0-DBAF-46D2-9689-7CB54243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Empati, pencatatan bantuan, pengelolaan relawan, dan pertanggungjawaban.</a:t>
            </a:r>
          </a:p>
        </p:txBody>
      </p:sp>
      <p:sp>
        <p:nvSpPr>
          <p:cNvPr id="10" name="Pemberdayaan">
            <a:extLst xmlns:a="http://schemas.openxmlformats.org/drawingml/2006/main">
              <a:ext uri="{FF2B5EF4-FFF2-40B4-BE49-F238E27FC236}">
                <a16:creationId xmlns:a16="http://schemas.microsoft.com/office/drawing/2014/main" id="{6C8D0BB8-CDAF-4602-91D1-93F73FE5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52875"/>
            <a:ext cx="49530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5F1"/>
                </a:solidFill>
                <a:latin typeface="Arial"/>
                <a:ea typeface="Arial"/>
                <a:cs typeface="Arial"/>
              </a:rPr>
              <a:t>Pemberdayaan</a:t>
            </a:r>
          </a:p>
        </p:txBody>
      </p:sp>
      <p:sp>
        <p:nvSpPr>
          <p:cNvPr id="11" name="Pemetaan potensi dan pendampingan keterampilan ber">
            <a:extLst xmlns:a="http://schemas.openxmlformats.org/drawingml/2006/main">
              <a:ext uri="{FF2B5EF4-FFF2-40B4-BE49-F238E27FC236}">
                <a16:creationId xmlns:a16="http://schemas.microsoft.com/office/drawing/2014/main" id="{9B39B012-1FB6-431B-8040-6DDAA607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1007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Pemetaan potensi dan pendampingan keterampilan bersama warga atau pelaku usaha.</a:t>
            </a:r>
          </a:p>
        </p:txBody>
      </p:sp>
      <p:sp>
        <p:nvSpPr>
          <p:cNvPr id="12" name="Tunas mengenal seluruh pilar. Penggerak dapat mend">
            <a:extLst xmlns:a="http://schemas.openxmlformats.org/drawingml/2006/main">
              <a:ext uri="{FF2B5EF4-FFF2-40B4-BE49-F238E27FC236}">
                <a16:creationId xmlns:a16="http://schemas.microsoft.com/office/drawing/2014/main" id="{B63D19FD-12FC-4FB0-8D93-6F438237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572750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Tunas mengenal seluruh pilar. Penggerak dapat mendalami satu, dua, atau lintas pilar. Pilar bukan program utama tambahan.</a:t>
            </a:r>
          </a:p>
        </p:txBody>
      </p:sp>
    </p:spTree>
    <p:extLst>
      <p:ext uri="{BB962C8B-B14F-4D97-AF65-F5344CB8AC3E}">
        <p14:creationId xmlns:p14="http://schemas.microsoft.com/office/powerpoint/2010/main" val="16649853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B1C9D5-5CDE-4722-B5F9-73C8A171C4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e16d958fe3471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ang putih logo">
            <a:extLst xmlns:a="http://schemas.openxmlformats.org/drawingml/2006/main">
              <a:ext uri="{FF2B5EF4-FFF2-40B4-BE49-F238E27FC236}">
                <a16:creationId xmlns:a16="http://schemas.microsoft.com/office/drawing/2014/main" id="{87FD6740-1B72-4E3A-99FB-4B726319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1962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B0F0F-BAED-43A1-A30A-FA3044D6F0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27ca9ff6f74e8e"/>
          <a:stretch xmlns:a="http://schemas.openxmlformats.org/drawingml/2006/main"/>
        </p:blipFill>
        <p:spPr>
          <a:xfrm xmlns:a="http://schemas.openxmlformats.org/drawingml/2006/main">
            <a:off x="609600" y="269217"/>
            <a:ext cx="1809750" cy="602661"/>
          </a:xfrm>
          <a:prstGeom xmlns:a="http://schemas.openxmlformats.org/drawingml/2006/main" prst="rect">
            <a:avLst/>
          </a:prstGeom>
        </p:spPr>
      </p:pic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23371F10-5728-47AA-B1B2-C8209185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7625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Hasil belajar dan perjalanan peserta">
            <a:extLst xmlns:a="http://schemas.openxmlformats.org/drawingml/2006/main">
              <a:ext uri="{FF2B5EF4-FFF2-40B4-BE49-F238E27FC236}">
                <a16:creationId xmlns:a16="http://schemas.microsoft.com/office/drawing/2014/main" id="{5DE26DE8-A099-402D-8CAB-16EE7F90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53750" cy="547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Hasil belajar dan perjalanan peserta</a:t>
            </a:r>
          </a:p>
        </p:txBody>
      </p:sp>
      <p:sp>
        <p:nvSpPr>
          <p:cNvPr id="6" name="Portofolio Tunas">
            <a:extLst xmlns:a="http://schemas.openxmlformats.org/drawingml/2006/main">
              <a:ext uri="{FF2B5EF4-FFF2-40B4-BE49-F238E27FC236}">
                <a16:creationId xmlns:a16="http://schemas.microsoft.com/office/drawing/2014/main" id="{F6848F75-3B17-4872-991D-E0F205C2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504825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AD58"/>
                </a:solidFill>
                <a:latin typeface="Arial"/>
                <a:ea typeface="Arial"/>
                <a:cs typeface="Arial"/>
              </a:rPr>
              <a:t>Portofolio Tunas</a:t>
            </a:r>
          </a:p>
        </p:txBody>
      </p:sp>
      <p:sp>
        <p:nvSpPr>
          <p:cNvPr id="7" name="Profil diri, rencana kebiasaan, peta pendidikan, r">
            <a:extLst xmlns:a="http://schemas.openxmlformats.org/drawingml/2006/main">
              <a:ext uri="{FF2B5EF4-FFF2-40B4-BE49-F238E27FC236}">
                <a16:creationId xmlns:a16="http://schemas.microsoft.com/office/drawing/2014/main" id="{05257A31-AA39-499E-8EB7-AA39CB36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5048250" cy="88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Profil diri, rencana kebiasaan, peta pendidikan, refleksi empat pilar, dan bukti tanggung jawab kelompok.</a:t>
            </a:r>
          </a:p>
        </p:txBody>
      </p:sp>
      <p:sp>
        <p:nvSpPr>
          <p:cNvPr id="8" name="Portofolio Penggerak">
            <a:extLst xmlns:a="http://schemas.openxmlformats.org/drawingml/2006/main">
              <a:ext uri="{FF2B5EF4-FFF2-40B4-BE49-F238E27FC236}">
                <a16:creationId xmlns:a16="http://schemas.microsoft.com/office/drawing/2014/main" id="{C194CD9D-6CB5-48CC-B035-A2C19FBE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504825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025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AD58"/>
                </a:solidFill>
                <a:latin typeface="Arial"/>
                <a:ea typeface="Arial"/>
                <a:cs typeface="Arial"/>
              </a:rPr>
              <a:t>Portofolio Penggerak</a:t>
            </a:r>
          </a:p>
        </p:txBody>
      </p:sp>
      <p:sp>
        <p:nvSpPr>
          <p:cNvPr id="9" name="Analisis isu, peta kebutuhan dan aktor, rencana ke">
            <a:extLst xmlns:a="http://schemas.openxmlformats.org/drawingml/2006/main">
              <a:ext uri="{FF2B5EF4-FFF2-40B4-BE49-F238E27FC236}">
                <a16:creationId xmlns:a16="http://schemas.microsoft.com/office/drawing/2014/main" id="{EF9195D9-0467-46A5-8DF8-DD8A4D90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0032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Analisis isu, peta kebutuhan dan aktor, rencana kegiatan dan anggaran, serta laporan praktik.</a:t>
            </a:r>
          </a:p>
        </p:txBody>
      </p:sp>
      <p:sp>
        <p:nvSpPr>
          <p:cNvPr id="10" name="Pendaftaran dan orientasi&#10;Tunas Progresif dan tinj">
            <a:extLst xmlns:a="http://schemas.openxmlformats.org/drawingml/2006/main">
              <a:ext uri="{FF2B5EF4-FFF2-40B4-BE49-F238E27FC236}">
                <a16:creationId xmlns:a16="http://schemas.microsoft.com/office/drawing/2014/main" id="{A9D64281-AC79-45CE-9A9D-9E9748E8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572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41667"/>
              </a:lnSpc>
              <a:buNone/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Pendaftaran dan orientasi</a:t>
            </a:r>
          </a:p>
          <a:p xmlns:a="http://schemas.openxmlformats.org/drawingml/2006/main">
            <a:pPr>
              <a:lnSpc>
                <a:spcPct val="141667"/>
              </a:lnSpc>
              <a:buNone/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Tunas Progresif dan tinjauan kesiapan</a:t>
            </a:r>
          </a:p>
          <a:p xmlns:a="http://schemas.openxmlformats.org/drawingml/2006/main">
            <a:pPr>
              <a:lnSpc>
                <a:spcPct val="141667"/>
              </a:lnSpc>
              <a:buNone/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Penggerak Progresif dan evaluasi portofolio</a:t>
            </a:r>
          </a:p>
          <a:p xmlns:a="http://schemas.openxmlformats.org/drawingml/2006/main">
            <a:pPr>
              <a:lnSpc>
                <a:spcPct val="141667"/>
              </a:lnSpc>
              <a:buNone/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Kontribusi lanjutan sesuai minat dan kesiapan</a:t>
            </a:r>
          </a:p>
        </p:txBody>
      </p:sp>
      <p:sp>
        <p:nvSpPr>
          <p:cNvPr id="11" name="Alumni dapat mengikuti pembekalan menuju peran rel">
            <a:extLst xmlns:a="http://schemas.openxmlformats.org/drawingml/2006/main">
              <a:ext uri="{FF2B5EF4-FFF2-40B4-BE49-F238E27FC236}">
                <a16:creationId xmlns:a16="http://schemas.microsoft.com/office/drawing/2014/main" id="{6C2A67A8-9A2E-4842-B448-C240610E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572750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7E2F0"/>
                </a:solidFill>
                <a:latin typeface="Arial"/>
                <a:ea typeface="Arial"/>
                <a:cs typeface="Arial"/>
              </a:rPr>
              <a:t>Alumni dapat mengikuti pembekalan menuju peran relawan, tutor, atau mentor sesuai kebutuhan dan kesiapan.</a:t>
            </a:r>
          </a:p>
        </p:txBody>
      </p:sp>
    </p:spTree>
    <p:extLst>
      <p:ext uri="{BB962C8B-B14F-4D97-AF65-F5344CB8AC3E}">
        <p14:creationId xmlns:p14="http://schemas.microsoft.com/office/powerpoint/2010/main" val="8259768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28D857-D745-4902-92FA-3CFE56D08E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998f6388ff49b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C0A45-BA74-41C4-B81E-59CB82A8A5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13fb875e454d0a"/>
          <a:stretch xmlns:a="http://schemas.openxmlformats.org/drawingml/2006/main"/>
        </p:blipFill>
        <p:spPr>
          <a:xfrm xmlns:a="http://schemas.openxmlformats.org/drawingml/2006/main">
            <a:off x="609600" y="269217"/>
            <a:ext cx="1809750" cy="602661"/>
          </a:xfrm>
          <a:prstGeom xmlns:a="http://schemas.openxmlformats.org/drawingml/2006/main" prst="rect">
            <a:avLst/>
          </a:prstGeom>
        </p:spPr>
      </p:pic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A0000336-F5D2-47DE-BDBB-2E458918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7625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Penawaran kerja sama">
            <a:extLst xmlns:a="http://schemas.openxmlformats.org/drawingml/2006/main">
              <a:ext uri="{FF2B5EF4-FFF2-40B4-BE49-F238E27FC236}">
                <a16:creationId xmlns:a16="http://schemas.microsoft.com/office/drawing/2014/main" id="{79D85DD9-80EF-4433-AD7E-C1EC4922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53750" cy="547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Penawaran kerja sama</a:t>
            </a:r>
          </a:p>
        </p:txBody>
      </p:sp>
      <p:sp>
        <p:nvSpPr>
          <p:cNvPr id="5" name="Dukungan untuk dua jenjang pembinaan">
            <a:extLst xmlns:a="http://schemas.openxmlformats.org/drawingml/2006/main">
              <a:ext uri="{FF2B5EF4-FFF2-40B4-BE49-F238E27FC236}">
                <a16:creationId xmlns:a16="http://schemas.microsoft.com/office/drawing/2014/main" id="{AB97D1A2-148C-4A69-A532-FBAE5D3D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048250" cy="833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32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Dukungan untuk dua jenjang pembinaan</a:t>
            </a:r>
          </a:p>
        </p:txBody>
      </p:sp>
      <p:sp>
        <p:nvSpPr>
          <p:cNvPr id="6" name="Calon mitra dapat mendukung Tunas Progresif, Pengg">
            <a:extLst xmlns:a="http://schemas.openxmlformats.org/drawingml/2006/main">
              <a:ext uri="{FF2B5EF4-FFF2-40B4-BE49-F238E27FC236}">
                <a16:creationId xmlns:a16="http://schemas.microsoft.com/office/drawing/2014/main" id="{7F436530-305A-420B-8E59-B6DB50DB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Calon mitra dapat mendukung Tunas Progresif, Penggerak Progresif, atau kesinambungan keduanya.</a:t>
            </a:r>
          </a:p>
        </p:txBody>
      </p:sp>
      <p:sp>
        <p:nvSpPr>
          <p:cNvPr id="7" name="Ruang kerja sama meliputi biaya peserta, pengajar ">
            <a:extLst xmlns:a="http://schemas.openxmlformats.org/drawingml/2006/main">
              <a:ext uri="{FF2B5EF4-FFF2-40B4-BE49-F238E27FC236}">
                <a16:creationId xmlns:a16="http://schemas.microsoft.com/office/drawing/2014/main" id="{CE0A8B6C-3A8E-4E9A-9763-087C0B53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Ruang kerja sama meliputi biaya peserta, pengajar dan mentor, fasilitas belajar, ruang praktik, serta publikasi bersama.</a:t>
            </a:r>
          </a:p>
        </p:txBody>
      </p:sp>
      <p:sp>
        <p:nvSpPr>
          <p:cNvPr id="8" name="Bentuk, nilai, dan cakupan dukungan mengikuti kebu">
            <a:extLst xmlns:a="http://schemas.openxmlformats.org/drawingml/2006/main">
              <a:ext uri="{FF2B5EF4-FFF2-40B4-BE49-F238E27FC236}">
                <a16:creationId xmlns:a16="http://schemas.microsoft.com/office/drawing/2014/main" id="{B9E0CE75-BD20-4A63-AEC0-11364696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572750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Bentuk, nilai, dan cakupan dukungan mengikuti kebutuhan program serta kesepakatan para pihak.</a:t>
            </a:r>
          </a:p>
        </p:txBody>
      </p:sp>
    </p:spTree>
    <p:extLst>
      <p:ext uri="{BB962C8B-B14F-4D97-AF65-F5344CB8AC3E}">
        <p14:creationId xmlns:p14="http://schemas.microsoft.com/office/powerpoint/2010/main" val="20510280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B669B6-73E9-45A5-897C-BD28995483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7591079b174b47"/>
          <a:stretch xmlns:a="http://schemas.openxmlformats.org/drawingml/2006/main"/>
        </p:blipFill>
        <p:spPr>
          <a:xfrm xmlns:a="http://schemas.openxmlformats.org/drawingml/2006/main">
            <a:off x="609600" y="269217"/>
            <a:ext cx="1809750" cy="602661"/>
          </a:xfrm>
          <a:prstGeom xmlns:a="http://schemas.openxmlformats.org/drawingml/2006/main" prst="rect">
            <a:avLst/>
          </a:prstGeom>
        </p:spPr>
      </p:pic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AA518C45-1BA1-4B27-B507-B1A25F5C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7625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Bentuk dukungan dan manfaat kemitraan">
            <a:extLst xmlns:a="http://schemas.openxmlformats.org/drawingml/2006/main">
              <a:ext uri="{FF2B5EF4-FFF2-40B4-BE49-F238E27FC236}">
                <a16:creationId xmlns:a16="http://schemas.microsoft.com/office/drawing/2014/main" id="{D5FDB22B-3899-4573-B6E4-BD3CFEA1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53750" cy="547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Bentuk dukungan dan manfaat kemitraan</a:t>
            </a:r>
          </a:p>
        </p:txBody>
      </p:sp>
      <p:sp>
        <p:nvSpPr>
          <p:cNvPr id="4" name="Pendidikan dan pendampingan">
            <a:extLst xmlns:a="http://schemas.openxmlformats.org/drawingml/2006/main">
              <a:ext uri="{FF2B5EF4-FFF2-40B4-BE49-F238E27FC236}">
                <a16:creationId xmlns:a16="http://schemas.microsoft.com/office/drawing/2014/main" id="{2F83AB10-0AED-43E9-BB26-2C971E81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04825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5F1"/>
                </a:solidFill>
                <a:latin typeface="Arial"/>
                <a:ea typeface="Arial"/>
                <a:cs typeface="Arial"/>
              </a:rPr>
              <a:t>Pendidikan dan pendampingan</a:t>
            </a:r>
          </a:p>
        </p:txBody>
      </p:sp>
      <p:sp>
        <p:nvSpPr>
          <p:cNvPr id="5" name="Pengajar, mentor, atau materi keahlian yang sesuai">
            <a:extLst xmlns:a="http://schemas.openxmlformats.org/drawingml/2006/main">
              <a:ext uri="{FF2B5EF4-FFF2-40B4-BE49-F238E27FC236}">
                <a16:creationId xmlns:a16="http://schemas.microsoft.com/office/drawing/2014/main" id="{4A890007-4323-4A00-93DC-EA725294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Pengajar, mentor, atau materi keahlian yang sesuai dengan tujuan belajar kedua program.</a:t>
            </a:r>
          </a:p>
        </p:txBody>
      </p:sp>
      <p:sp>
        <p:nvSpPr>
          <p:cNvPr id="6" name="Fasilitas dan akses peserta">
            <a:extLst xmlns:a="http://schemas.openxmlformats.org/drawingml/2006/main">
              <a:ext uri="{FF2B5EF4-FFF2-40B4-BE49-F238E27FC236}">
                <a16:creationId xmlns:a16="http://schemas.microsoft.com/office/drawing/2014/main" id="{94A56A77-15EC-4BFB-BA44-CEAED6A4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504825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5F1"/>
                </a:solidFill>
                <a:latin typeface="Arial"/>
                <a:ea typeface="Arial"/>
                <a:cs typeface="Arial"/>
              </a:rPr>
              <a:t>Fasilitas dan akses peserta</a:t>
            </a:r>
          </a:p>
        </p:txBody>
      </p:sp>
      <p:sp>
        <p:nvSpPr>
          <p:cNvPr id="7" name="Ruang kelas, perangkat belajar, dukungan biaya kel">
            <a:extLst xmlns:a="http://schemas.openxmlformats.org/drawingml/2006/main">
              <a:ext uri="{FF2B5EF4-FFF2-40B4-BE49-F238E27FC236}">
                <a16:creationId xmlns:a16="http://schemas.microsoft.com/office/drawing/2014/main" id="{EC8456D5-32D9-4ED2-BAAE-4B666F4C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0507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Ruang kelas, perangkat belajar, dukungan biaya kelas, atau lokasi praktik yang sesuai.</a:t>
            </a:r>
          </a:p>
        </p:txBody>
      </p:sp>
      <p:sp>
        <p:nvSpPr>
          <p:cNvPr id="8" name="Kolaborasi dan publikasi">
            <a:extLst xmlns:a="http://schemas.openxmlformats.org/drawingml/2006/main">
              <a:ext uri="{FF2B5EF4-FFF2-40B4-BE49-F238E27FC236}">
                <a16:creationId xmlns:a16="http://schemas.microsoft.com/office/drawing/2014/main" id="{0EDB6A6F-C244-498D-9EB9-22AAE6F4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504825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5F1"/>
                </a:solidFill>
                <a:latin typeface="Arial"/>
                <a:ea typeface="Arial"/>
                <a:cs typeface="Arial"/>
              </a:rPr>
              <a:t>Kolaborasi dan publikasi</a:t>
            </a:r>
          </a:p>
        </p:txBody>
      </p:sp>
      <p:sp>
        <p:nvSpPr>
          <p:cNvPr id="9" name="Kegiatan bersama serta penempatan identitas mitra ">
            <a:extLst xmlns:a="http://schemas.openxmlformats.org/drawingml/2006/main">
              <a:ext uri="{FF2B5EF4-FFF2-40B4-BE49-F238E27FC236}">
                <a16:creationId xmlns:a16="http://schemas.microsoft.com/office/drawing/2014/main" id="{65EB53CC-E431-4D35-AFDF-6ACE0583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Kegiatan bersama serta penempatan identitas mitra pada materi yang disepakati.</a:t>
            </a:r>
          </a:p>
        </p:txBody>
      </p:sp>
      <p:sp>
        <p:nvSpPr>
          <p:cNvPr id="10" name="Laporan pemanfaatan dukungan">
            <a:extLst xmlns:a="http://schemas.openxmlformats.org/drawingml/2006/main">
              <a:ext uri="{FF2B5EF4-FFF2-40B4-BE49-F238E27FC236}">
                <a16:creationId xmlns:a16="http://schemas.microsoft.com/office/drawing/2014/main" id="{B0557194-38F2-4CB1-9E69-E21F94D6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48125"/>
            <a:ext cx="504825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5F1"/>
                </a:solidFill>
                <a:latin typeface="Arial"/>
                <a:ea typeface="Arial"/>
                <a:cs typeface="Arial"/>
              </a:rPr>
              <a:t>Laporan pemanfaatan dukungan</a:t>
            </a:r>
          </a:p>
        </p:txBody>
      </p:sp>
      <p:sp>
        <p:nvSpPr>
          <p:cNvPr id="11" name="Ringkasan pelaksanaan, hasil belajar, dokumentasi ">
            <a:extLst xmlns:a="http://schemas.openxmlformats.org/drawingml/2006/main">
              <a:ext uri="{FF2B5EF4-FFF2-40B4-BE49-F238E27FC236}">
                <a16:creationId xmlns:a16="http://schemas.microsoft.com/office/drawing/2014/main" id="{CF36BEEF-F713-4CB4-B5BB-DB5201F5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0532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Ringkasan pelaksanaan, hasil belajar, dokumentasi berizin, dan realisasi dukungan.</a:t>
            </a:r>
          </a:p>
        </p:txBody>
      </p:sp>
      <p:sp>
        <p:nvSpPr>
          <p:cNvPr id="12" name="Nominal dan kuota dukungan belum ditetapkan. Dukun">
            <a:extLst xmlns:a="http://schemas.openxmlformats.org/drawingml/2006/main">
              <a:ext uri="{FF2B5EF4-FFF2-40B4-BE49-F238E27FC236}">
                <a16:creationId xmlns:a16="http://schemas.microsoft.com/office/drawing/2014/main" id="{33F7BBBB-A3C1-47BD-8147-DC370165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572750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Nominal dan kuota dukungan belum ditetapkan. Dukungan tunai serta barang atau jasa dicatat terpisah.</a:t>
            </a:r>
          </a:p>
        </p:txBody>
      </p:sp>
    </p:spTree>
    <p:extLst>
      <p:ext uri="{BB962C8B-B14F-4D97-AF65-F5344CB8AC3E}">
        <p14:creationId xmlns:p14="http://schemas.microsoft.com/office/powerpoint/2010/main" val="14952281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CECA0D-F2FF-47DE-8AE7-F0A58A5F31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52788bfc5428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ang putih logo">
            <a:extLst xmlns:a="http://schemas.openxmlformats.org/drawingml/2006/main">
              <a:ext uri="{FF2B5EF4-FFF2-40B4-BE49-F238E27FC236}">
                <a16:creationId xmlns:a16="http://schemas.microsoft.com/office/drawing/2014/main" id="{0CF916BA-1830-4BE2-B18E-313B6482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1962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82015-5775-4B55-9981-12C6BF2C93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09bbb0acf4b32"/>
          <a:stretch xmlns:a="http://schemas.openxmlformats.org/drawingml/2006/main"/>
        </p:blipFill>
        <p:spPr>
          <a:xfrm xmlns:a="http://schemas.openxmlformats.org/drawingml/2006/main">
            <a:off x="609600" y="269217"/>
            <a:ext cx="1809750" cy="602661"/>
          </a:xfrm>
          <a:prstGeom xmlns:a="http://schemas.openxmlformats.org/drawingml/2006/main" prst="rect">
            <a:avLst/>
          </a:prstGeom>
        </p:spPr>
      </p:pic>
      <p:sp>
        <p:nvSpPr>
          <p:cNvPr id="4" name="15">
            <a:extLst xmlns:a="http://schemas.openxmlformats.org/drawingml/2006/main">
              <a:ext uri="{FF2B5EF4-FFF2-40B4-BE49-F238E27FC236}">
                <a16:creationId xmlns:a16="http://schemas.microsoft.com/office/drawing/2014/main" id="{0F8A7CD9-1C07-4A2A-83CE-02B0667E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7625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Alur kolaborasi">
            <a:extLst xmlns:a="http://schemas.openxmlformats.org/drawingml/2006/main">
              <a:ext uri="{FF2B5EF4-FFF2-40B4-BE49-F238E27FC236}">
                <a16:creationId xmlns:a16="http://schemas.microsoft.com/office/drawing/2014/main" id="{AA5D5485-BA04-4CC9-B8A8-19C552AB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53750" cy="547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Alur kolaborasi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06891944-F472-4B84-8283-A84913F6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AD5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Diskusi kebutuhan">
            <a:extLst xmlns:a="http://schemas.openxmlformats.org/drawingml/2006/main">
              <a:ext uri="{FF2B5EF4-FFF2-40B4-BE49-F238E27FC236}">
                <a16:creationId xmlns:a16="http://schemas.microsoft.com/office/drawing/2014/main" id="{F67D5A6D-8980-4CFD-86C6-5F475700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43125"/>
            <a:ext cx="428625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Diskusi kebutuhan</a:t>
            </a:r>
          </a:p>
        </p:txBody>
      </p:sp>
      <p:sp>
        <p:nvSpPr>
          <p:cNvPr id="8" name="Memilih program yang didukung serta tujuan dan lin">
            <a:extLst xmlns:a="http://schemas.openxmlformats.org/drawingml/2006/main">
              <a:ext uri="{FF2B5EF4-FFF2-40B4-BE49-F238E27FC236}">
                <a16:creationId xmlns:a16="http://schemas.microsoft.com/office/drawing/2014/main" id="{48F17077-2F69-4F11-875C-F4597451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0"/>
            <a:ext cx="4286250" cy="595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Memilih program yang didukung serta tujuan dan lingkup kerja sama.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A43DF395-2265-4B15-89B7-A79608FD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AD5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Kesepakatan peran">
            <a:extLst xmlns:a="http://schemas.openxmlformats.org/drawingml/2006/main">
              <a:ext uri="{FF2B5EF4-FFF2-40B4-BE49-F238E27FC236}">
                <a16:creationId xmlns:a16="http://schemas.microsoft.com/office/drawing/2014/main" id="{8D241F18-711E-4BBC-89E7-9957F78D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43125"/>
            <a:ext cx="428625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Kesepakatan peran</a:t>
            </a:r>
          </a:p>
        </p:txBody>
      </p:sp>
      <p:sp>
        <p:nvSpPr>
          <p:cNvPr id="11" name="Menetapkan kontribusi, penanggung jawab, jadwal, d">
            <a:extLst xmlns:a="http://schemas.openxmlformats.org/drawingml/2006/main">
              <a:ext uri="{FF2B5EF4-FFF2-40B4-BE49-F238E27FC236}">
                <a16:creationId xmlns:a16="http://schemas.microsoft.com/office/drawing/2014/main" id="{0E586433-E632-4309-8B29-B6CB2BCC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67000"/>
            <a:ext cx="4286250" cy="595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Menetapkan kontribusi, penanggung jawab, jadwal, dan bentuk pengakuan.</a:t>
            </a:r>
          </a:p>
        </p:txBody>
      </p:sp>
      <p:sp>
        <p:nvSpPr>
          <p:cNvPr id="12" name="03">
            <a:extLst xmlns:a="http://schemas.openxmlformats.org/drawingml/2006/main">
              <a:ext uri="{FF2B5EF4-FFF2-40B4-BE49-F238E27FC236}">
                <a16:creationId xmlns:a16="http://schemas.microsoft.com/office/drawing/2014/main" id="{4CFB2736-2AA9-4076-8ED2-1907F47E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AD5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Pelaksanaan kegiatan">
            <a:extLst xmlns:a="http://schemas.openxmlformats.org/drawingml/2006/main">
              <a:ext uri="{FF2B5EF4-FFF2-40B4-BE49-F238E27FC236}">
                <a16:creationId xmlns:a16="http://schemas.microsoft.com/office/drawing/2014/main" id="{BBE49D40-FA09-4F8B-B69E-14D49A83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43375"/>
            <a:ext cx="428625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Pelaksanaan kegiatan</a:t>
            </a:r>
          </a:p>
        </p:txBody>
      </p:sp>
      <p:sp>
        <p:nvSpPr>
          <p:cNvPr id="14" name="Menjalankan kelas atau praktik sesuai agenda dan s">
            <a:extLst xmlns:a="http://schemas.openxmlformats.org/drawingml/2006/main">
              <a:ext uri="{FF2B5EF4-FFF2-40B4-BE49-F238E27FC236}">
                <a16:creationId xmlns:a16="http://schemas.microsoft.com/office/drawing/2014/main" id="{75FDEE7B-E08C-4B71-9654-C13DDEBC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67250"/>
            <a:ext cx="4286250" cy="595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Menjalankan kelas atau praktik sesuai agenda dan sumber daya yang disepakati.</a:t>
            </a:r>
          </a:p>
        </p:txBody>
      </p:sp>
      <p:sp>
        <p:nvSpPr>
          <p:cNvPr id="15" name="04">
            <a:extLst xmlns:a="http://schemas.openxmlformats.org/drawingml/2006/main">
              <a:ext uri="{FF2B5EF4-FFF2-40B4-BE49-F238E27FC236}">
                <a16:creationId xmlns:a16="http://schemas.microsoft.com/office/drawing/2014/main" id="{43F1E91D-DF4E-41B5-94CC-2113B747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4337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100" b="1">
                <a:solidFill>
                  <a:srgbClr val="FFAD5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AD5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Evaluasi bersama">
            <a:extLst xmlns:a="http://schemas.openxmlformats.org/drawingml/2006/main">
              <a:ext uri="{FF2B5EF4-FFF2-40B4-BE49-F238E27FC236}">
                <a16:creationId xmlns:a16="http://schemas.microsoft.com/office/drawing/2014/main" id="{9D658CCA-AC05-422A-8694-5682F491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43375"/>
            <a:ext cx="428625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Evaluasi bersama</a:t>
            </a:r>
          </a:p>
        </p:txBody>
      </p:sp>
      <p:sp>
        <p:nvSpPr>
          <p:cNvPr id="17" name="Meninjau hasil, pemanfaatan dukungan, dan kebutuha">
            <a:extLst xmlns:a="http://schemas.openxmlformats.org/drawingml/2006/main">
              <a:ext uri="{FF2B5EF4-FFF2-40B4-BE49-F238E27FC236}">
                <a16:creationId xmlns:a16="http://schemas.microsoft.com/office/drawing/2014/main" id="{15D4199B-92C0-4A40-B3DA-EBA22B4F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67250"/>
            <a:ext cx="4286250" cy="595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Meninjau hasil, pemanfaatan dukungan, dan kebutuhan tindak lanjut.</a:t>
            </a:r>
          </a:p>
        </p:txBody>
      </p:sp>
      <p:sp>
        <p:nvSpPr>
          <p:cNvPr id="18" name="Alur berlaku untuk kerja sama pada Tunas Progresif">
            <a:extLst xmlns:a="http://schemas.openxmlformats.org/drawingml/2006/main">
              <a:ext uri="{FF2B5EF4-FFF2-40B4-BE49-F238E27FC236}">
                <a16:creationId xmlns:a16="http://schemas.microsoft.com/office/drawing/2014/main" id="{3E5205D2-661F-4AA1-97E6-C5152E2E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572750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750" b="0">
                <a:solidFill>
                  <a:srgbClr val="D7E2F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D7E2F0"/>
                </a:solidFill>
                <a:latin typeface="Arial"/>
                <a:ea typeface="Arial"/>
                <a:cs typeface="Arial"/>
              </a:rPr>
              <a:t>Alur berlaku untuk kerja sama pada Tunas Progresif maupun Penggerak Progresif.</a:t>
            </a:r>
          </a:p>
        </p:txBody>
      </p:sp>
    </p:spTree>
    <p:extLst>
      <p:ext uri="{BB962C8B-B14F-4D97-AF65-F5344CB8AC3E}">
        <p14:creationId xmlns:p14="http://schemas.microsoft.com/office/powerpoint/2010/main" val="11545540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ECF62D-782C-42A8-9282-972BECF38B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98fe768ee478a"/>
          <a:stretch xmlns:a="http://schemas.openxmlformats.org/drawingml/2006/main"/>
        </p:blipFill>
        <p:spPr>
          <a:xfrm xmlns:a="http://schemas.openxmlformats.org/drawingml/2006/main">
            <a:off x="609600" y="269217"/>
            <a:ext cx="1809750" cy="602661"/>
          </a:xfrm>
          <a:prstGeom xmlns:a="http://schemas.openxmlformats.org/drawingml/2006/main" prst="rect">
            <a:avLst/>
          </a:prstGeom>
        </p:spPr>
      </p:pic>
      <p:sp>
        <p:nvSpPr>
          <p:cNvPr id="2" name="16">
            <a:extLst xmlns:a="http://schemas.openxmlformats.org/drawingml/2006/main">
              <a:ext uri="{FF2B5EF4-FFF2-40B4-BE49-F238E27FC236}">
                <a16:creationId xmlns:a16="http://schemas.microsoft.com/office/drawing/2014/main" id="{5205BB75-BE28-44AE-8921-695914D3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7625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Periode dan evaluasi kerja sama">
            <a:extLst xmlns:a="http://schemas.openxmlformats.org/drawingml/2006/main">
              <a:ext uri="{FF2B5EF4-FFF2-40B4-BE49-F238E27FC236}">
                <a16:creationId xmlns:a16="http://schemas.microsoft.com/office/drawing/2014/main" id="{1E71C80D-D9C6-4CF1-A1CC-F42EED26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53750" cy="547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Periode dan evaluasi kerja sama</a:t>
            </a:r>
          </a:p>
        </p:txBody>
      </p:sp>
      <p:sp>
        <p:nvSpPr>
          <p:cNvPr id="4" name="Periode pelaksanaan">
            <a:extLst xmlns:a="http://schemas.openxmlformats.org/drawingml/2006/main">
              <a:ext uri="{FF2B5EF4-FFF2-40B4-BE49-F238E27FC236}">
                <a16:creationId xmlns:a16="http://schemas.microsoft.com/office/drawing/2014/main" id="{AA93BF6E-88EC-49CA-9DFB-F4C1BECD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504825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5F1"/>
                </a:solidFill>
                <a:latin typeface="Arial"/>
                <a:ea typeface="Arial"/>
                <a:cs typeface="Arial"/>
              </a:rPr>
              <a:t>Periode pelaksanaan</a:t>
            </a:r>
          </a:p>
        </p:txBody>
      </p:sp>
      <p:sp>
        <p:nvSpPr>
          <p:cNvPr id="5" name="Kerja sama mengikuti satu angkatan Tunas, satu ang">
            <a:extLst xmlns:a="http://schemas.openxmlformats.org/drawingml/2006/main">
              <a:ext uri="{FF2B5EF4-FFF2-40B4-BE49-F238E27FC236}">
                <a16:creationId xmlns:a16="http://schemas.microsoft.com/office/drawing/2014/main" id="{CA83BA91-12F2-49B4-BB1A-0F441961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5048250" cy="88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Kerja sama mengikuti satu angkatan Tunas, satu angkatan Penggerak, atau rangkaian keduanya. Tanggal dan durasi ditetapkan dalam kesepakatan.</a:t>
            </a:r>
          </a:p>
        </p:txBody>
      </p:sp>
      <p:sp>
        <p:nvSpPr>
          <p:cNvPr id="6" name="Evaluasi program">
            <a:extLst xmlns:a="http://schemas.openxmlformats.org/drawingml/2006/main">
              <a:ext uri="{FF2B5EF4-FFF2-40B4-BE49-F238E27FC236}">
                <a16:creationId xmlns:a16="http://schemas.microsoft.com/office/drawing/2014/main" id="{9731707A-F5FA-4C7D-B378-5140984C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504825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025" b="1">
                <a:solidFill>
                  <a:srgbClr val="1755F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5F1"/>
                </a:solidFill>
                <a:latin typeface="Arial"/>
                <a:ea typeface="Arial"/>
                <a:cs typeface="Arial"/>
              </a:rPr>
              <a:t>Evaluasi program</a:t>
            </a:r>
          </a:p>
        </p:txBody>
      </p:sp>
      <p:sp>
        <p:nvSpPr>
          <p:cNvPr id="7" name="Peninjauan mengacu pada realisasi agenda, tugas pe">
            <a:extLst xmlns:a="http://schemas.openxmlformats.org/drawingml/2006/main">
              <a:ext uri="{FF2B5EF4-FFF2-40B4-BE49-F238E27FC236}">
                <a16:creationId xmlns:a16="http://schemas.microsoft.com/office/drawing/2014/main" id="{EC3F1117-64C1-4F78-95B2-FB0D1EFC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00325"/>
            <a:ext cx="5048250" cy="88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Peninjauan mengacu pada realisasi agenda, tugas peserta, perkembangan portofolio, umpan balik mentor, serta penggunaan dukungan.</a:t>
            </a:r>
          </a:p>
        </p:txBody>
      </p:sp>
      <p:sp>
        <p:nvSpPr>
          <p:cNvPr id="8" name="Ketentuan sebelum pelaksanaan">
            <a:extLst xmlns:a="http://schemas.openxmlformats.org/drawingml/2006/main">
              <a:ext uri="{FF2B5EF4-FFF2-40B4-BE49-F238E27FC236}">
                <a16:creationId xmlns:a16="http://schemas.microsoft.com/office/drawing/2014/main" id="{12F7402F-AC50-4ECB-9BCF-ACB5EAA9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572750" cy="440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1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Ketentuan sebelum pelaksanaan</a:t>
            </a:r>
          </a:p>
        </p:txBody>
      </p:sp>
      <p:sp>
        <p:nvSpPr>
          <p:cNvPr id="9" name="Tim mengonfirmasi jadwal, pengajar, mentor, kuota,">
            <a:extLst xmlns:a="http://schemas.openxmlformats.org/drawingml/2006/main">
              <a:ext uri="{FF2B5EF4-FFF2-40B4-BE49-F238E27FC236}">
                <a16:creationId xmlns:a16="http://schemas.microsoft.com/office/drawing/2014/main" id="{23321677-998E-4092-AD6B-343815AE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800" b="0">
                <a:solidFill>
                  <a:srgbClr val="1D304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D3048"/>
                </a:solidFill>
                <a:latin typeface="Arial"/>
                <a:ea typeface="Arial"/>
                <a:cs typeface="Arial"/>
              </a:rPr>
              <a:t>Tim mengonfirmasi jadwal, pengajar, mentor, kuota, tempat, biaya, serta lingkup praktik. Penawaran kelas dan dukungan mitra mengikuti sumber daya yang benar-benar tersedia.</a:t>
            </a:r>
          </a:p>
        </p:txBody>
      </p:sp>
      <p:sp>
        <p:nvSpPr>
          <p:cNvPr id="10" name="Skala, jadwal, harga kelas, dan anggaran final dis">
            <a:extLst xmlns:a="http://schemas.openxmlformats.org/drawingml/2006/main">
              <a:ext uri="{FF2B5EF4-FFF2-40B4-BE49-F238E27FC236}">
                <a16:creationId xmlns:a16="http://schemas.microsoft.com/office/drawing/2014/main" id="{BE0BBB6D-975A-44A9-8D89-CD416E67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572750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Skala, jadwal, harga kelas, dan anggaran final disusun terpisah untuk setiap program.</a:t>
            </a:r>
          </a:p>
        </p:txBody>
      </p:sp>
    </p:spTree>
    <p:extLst>
      <p:ext uri="{BB962C8B-B14F-4D97-AF65-F5344CB8AC3E}">
        <p14:creationId xmlns:p14="http://schemas.microsoft.com/office/powerpoint/2010/main" val="8964468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B232D-8713-4B49-A4C9-4C5F757E9E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7f5bc1ea7f4b3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F3AC4-56EA-42DE-BCE3-D5CF7201CE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30d15e273d4db4"/>
          <a:stretch xmlns:a="http://schemas.openxmlformats.org/drawingml/2006/main"/>
        </p:blipFill>
        <p:spPr>
          <a:xfrm xmlns:a="http://schemas.openxmlformats.org/drawingml/2006/main">
            <a:off x="609600" y="269217"/>
            <a:ext cx="1809750" cy="602661"/>
          </a:xfrm>
          <a:prstGeom xmlns:a="http://schemas.openxmlformats.org/drawingml/2006/main" prst="rect">
            <a:avLst/>
          </a:prstGeom>
        </p:spPr>
      </p:pic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FE803BBF-1C33-4726-8965-F37BF330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7625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1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Mari membangun pembinaan bersama">
            <a:extLst xmlns:a="http://schemas.openxmlformats.org/drawingml/2006/main">
              <a:ext uri="{FF2B5EF4-FFF2-40B4-BE49-F238E27FC236}">
                <a16:creationId xmlns:a16="http://schemas.microsoft.com/office/drawing/2014/main" id="{71EF7A92-C501-45CE-A334-4EFC4711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53750" cy="547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28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Mari membangun pembinaan bersama</a:t>
            </a:r>
          </a:p>
        </p:txBody>
      </p:sp>
      <p:sp>
        <p:nvSpPr>
          <p:cNvPr id="5" name="Tunas Progresif&#10;Penggerak Progresif">
            <a:extLst xmlns:a="http://schemas.openxmlformats.org/drawingml/2006/main">
              <a:ext uri="{FF2B5EF4-FFF2-40B4-BE49-F238E27FC236}">
                <a16:creationId xmlns:a16="http://schemas.microsoft.com/office/drawing/2014/main" id="{4FF96A23-D8CB-4A0E-9776-218209AA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00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30952"/>
              </a:lnSpc>
              <a:buNone/>
              <a:defRPr sz="31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Tunas Progresif</a:t>
            </a:r>
          </a:p>
          <a:p xmlns:a="http://schemas.openxmlformats.org/drawingml/2006/main">
            <a:pPr>
              <a:lnSpc>
                <a:spcPct val="130952"/>
              </a:lnSpc>
              <a:buNone/>
              <a:defRPr sz="31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Penggerak Progresif</a:t>
            </a:r>
          </a:p>
        </p:txBody>
      </p:sp>
      <p:sp>
        <p:nvSpPr>
          <p:cNvPr id="6" name="Akademi Progresif&#10;Muda Progresif Bangsa Foundation">
            <a:extLst xmlns:a="http://schemas.openxmlformats.org/drawingml/2006/main">
              <a:ext uri="{FF2B5EF4-FFF2-40B4-BE49-F238E27FC236}">
                <a16:creationId xmlns:a16="http://schemas.microsoft.com/office/drawing/2014/main" id="{5BC8E7BC-088C-4B4E-AC72-80C1CACC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82B5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082B5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082B5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082B5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082B5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082B5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082B5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082B5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082B5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082B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800" b="0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82B59"/>
                </a:solidFill>
                <a:latin typeface="Arial"/>
                <a:ea typeface="Arial"/>
                <a:cs typeface="Arial"/>
              </a:rPr>
              <a:t>Akademi Progresif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800" b="0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82B59"/>
                </a:solidFill>
                <a:latin typeface="Arial"/>
                <a:ea typeface="Arial"/>
                <a:cs typeface="Arial"/>
              </a:rPr>
              <a:t>Muda Progresif Bangsa Foundation</a:t>
            </a:r>
          </a:p>
        </p:txBody>
      </p:sp>
      <p:sp>
        <p:nvSpPr>
          <p:cNvPr id="7" name="Penanggung jawab: [diisi]&#10;WhatsApp: [diisi]&#10;Email ">
            <a:extLst xmlns:a="http://schemas.openxmlformats.org/drawingml/2006/main">
              <a:ext uri="{FF2B5EF4-FFF2-40B4-BE49-F238E27FC236}">
                <a16:creationId xmlns:a16="http://schemas.microsoft.com/office/drawing/2014/main" id="{CF9346CC-BFCC-4584-90DB-AF5A68AB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5810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5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Penanggung jawab: [diisi]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5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WhatsApp: [diisi]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5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Email dan media sosial: [diisi]</a:t>
            </a:r>
          </a:p>
        </p:txBody>
      </p:sp>
      <p:sp>
        <p:nvSpPr>
          <p:cNvPr id="8" name="Draf proposal kerja sama. Kontak, tanggal, dan kes">
            <a:extLst xmlns:a="http://schemas.openxmlformats.org/drawingml/2006/main">
              <a:ext uri="{FF2B5EF4-FFF2-40B4-BE49-F238E27FC236}">
                <a16:creationId xmlns:a16="http://schemas.microsoft.com/office/drawing/2014/main" id="{502B1C3C-AB59-42D7-AA9B-0B8A1FFA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572750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75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Draf proposal kerja sama. Kontak, tanggal, dan kesepakatan pelaksanaan perlu dilengkapi.</a:t>
            </a:r>
          </a:p>
        </p:txBody>
      </p:sp>
    </p:spTree>
    <p:extLst>
      <p:ext uri="{BB962C8B-B14F-4D97-AF65-F5344CB8AC3E}">
        <p14:creationId xmlns:p14="http://schemas.microsoft.com/office/powerpoint/2010/main" val="18909477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2026-10-20T13:45:02.5140000Z</dcterms:created>
  <dcterms:modified xsi:type="dcterms:W3CDTF">2026-10-20T13:45:02.5150000Z</dcterms:modified>
</coreProperties>
</file>